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8" r:id="rId2"/>
    <p:sldId id="275" r:id="rId3"/>
    <p:sldId id="274" r:id="rId4"/>
    <p:sldId id="276" r:id="rId5"/>
    <p:sldId id="284" r:id="rId6"/>
    <p:sldId id="277" r:id="rId7"/>
    <p:sldId id="283" r:id="rId8"/>
    <p:sldId id="262" r:id="rId9"/>
    <p:sldId id="28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4BA9"/>
    <a:srgbClr val="B38C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48" autoAdjust="0"/>
    <p:restoredTop sz="94660"/>
  </p:normalViewPr>
  <p:slideViewPr>
    <p:cSldViewPr>
      <p:cViewPr varScale="1">
        <p:scale>
          <a:sx n="115" d="100"/>
          <a:sy n="115" d="100"/>
        </p:scale>
        <p:origin x="186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4A26A-1A74-49A8-AC25-04652DB93EE0}" type="datetimeFigureOut">
              <a:rPr lang="de-AT" smtClean="0"/>
              <a:pPr/>
              <a:t>07.12.2017</a:t>
            </a:fld>
            <a:endParaRPr lang="de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0635-B07D-454D-BD61-52392FAE12B3}" type="slidenum">
              <a:rPr lang="de-AT" smtClean="0"/>
              <a:pPr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1BA1-6E29-4C3F-A65E-3DC705DF1D1B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7EDEB-C16C-4D54-985A-E6F4D5BF112D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CFB0-903B-4FCD-9717-EC6A3EB8F1DD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17378-02A6-4B0A-81ED-A2F951E365C5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B7FF-222F-464A-9A4B-C416692FF68D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4269-E981-40E3-860C-A6110032406E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09FBE-00F0-4B46-A166-6854029FEE3F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495-5D32-4CA6-A2BA-DFF3BB961000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DB6D7-BD58-48C5-A41B-F4D13DFB59C8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691B-900D-49CE-8032-CB284C54E877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E19FF-7CA8-45BD-89D5-4595B6BD2E1C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CEA62-674E-4AFA-B486-3F8C75020258}" type="datetime1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43400"/>
            <a:ext cx="6400800" cy="22098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de-AT" dirty="0" smtClean="0"/>
              <a:t>BM08</a:t>
            </a:r>
          </a:p>
          <a:p>
            <a:pPr algn="l"/>
            <a:r>
              <a:rPr lang="de-AT" dirty="0" smtClean="0"/>
              <a:t>Marketing</a:t>
            </a:r>
          </a:p>
          <a:p>
            <a:pPr algn="l"/>
            <a:r>
              <a:rPr lang="de-AT" dirty="0" smtClean="0"/>
              <a:t>11.12.2017</a:t>
            </a:r>
          </a:p>
          <a:p>
            <a:pPr algn="l"/>
            <a:endParaRPr lang="de-AT" dirty="0" smtClean="0"/>
          </a:p>
          <a:p>
            <a:pPr algn="l"/>
            <a:endParaRPr lang="de-AT" dirty="0" smtClean="0"/>
          </a:p>
          <a:p>
            <a:pPr algn="l"/>
            <a:r>
              <a:rPr lang="de-AT" dirty="0" smtClean="0"/>
              <a:t>Daniel Burnier de Castro</a:t>
            </a:r>
            <a:endParaRPr lang="de-AT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47850"/>
          </a:xfrm>
        </p:spPr>
        <p:txBody>
          <a:bodyPr>
            <a:normAutofit fontScale="90000"/>
          </a:bodyPr>
          <a:lstStyle/>
          <a:p>
            <a:r>
              <a:rPr lang="de-AT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Abigail Cards</a:t>
            </a:r>
            <a:r>
              <a:rPr lang="de-AT" dirty="0" smtClean="0">
                <a:latin typeface="Mystery Quest" pitchFamily="2" charset="0"/>
                <a:ea typeface="Mystery Quest" pitchFamily="2" charset="0"/>
              </a:rPr>
              <a:t/>
            </a:r>
            <a:br>
              <a:rPr lang="de-AT" dirty="0" smtClean="0">
                <a:latin typeface="Mystery Quest" pitchFamily="2" charset="0"/>
                <a:ea typeface="Mystery Quest" pitchFamily="2" charset="0"/>
              </a:rPr>
            </a:br>
            <a:r>
              <a:rPr lang="de-AT" sz="30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Online Beratung mit Zigeunerkaten </a:t>
            </a:r>
            <a:br>
              <a:rPr lang="de-AT" sz="30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</a:br>
            <a:r>
              <a:rPr lang="de-AT" sz="30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in Brasilien, Österreich...</a:t>
            </a:r>
            <a:br>
              <a:rPr lang="de-AT" sz="30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</a:br>
            <a:r>
              <a:rPr lang="de-AT" sz="3000" u="sng" dirty="0" smtClean="0">
                <a:solidFill>
                  <a:srgbClr val="FF0000"/>
                </a:solidFill>
                <a:ea typeface="Mystery Quest" pitchFamily="2" charset="0"/>
              </a:rPr>
              <a:t>abigailcards.com</a:t>
            </a:r>
            <a:endParaRPr lang="de-AT" sz="3000" u="sng" dirty="0">
              <a:solidFill>
                <a:srgbClr val="FF0000"/>
              </a:solidFill>
              <a:ea typeface="Mystery Quest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381000" cy="6858000"/>
            </a:xfrm>
            <a:prstGeom prst="rect">
              <a:avLst/>
            </a:prstGeom>
            <a:solidFill>
              <a:srgbClr val="B38C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0"/>
              <a:ext cx="9144000" cy="381600"/>
            </a:xfrm>
            <a:prstGeom prst="rect">
              <a:avLst/>
            </a:prstGeom>
            <a:solidFill>
              <a:srgbClr val="B38C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  <p:pic>
        <p:nvPicPr>
          <p:cNvPr id="1026" name="Picture 2" descr="C:\wamp64\www\AbigailCardsWebsite\de\Other Images\index_image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344" y="4190999"/>
            <a:ext cx="4067656" cy="2667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563562"/>
          </a:xfrm>
        </p:spPr>
        <p:txBody>
          <a:bodyPr>
            <a:noAutofit/>
          </a:bodyPr>
          <a:lstStyle/>
          <a:p>
            <a:r>
              <a:rPr lang="de-DE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Index</a:t>
            </a:r>
            <a:endParaRPr lang="de-AT" sz="3200" dirty="0" smtClean="0">
              <a:solidFill>
                <a:srgbClr val="674BA9"/>
              </a:solidFill>
              <a:latin typeface="Mystery Quest" pitchFamily="2" charset="0"/>
              <a:ea typeface="Mystery Ques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924800" cy="4572000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de-AT" sz="2400" dirty="0" smtClean="0"/>
              <a:t>SWOT Analyse</a:t>
            </a:r>
            <a:endParaRPr lang="de-AT" sz="2400" i="1" u="sng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de-AT" sz="2400" i="1" u="sng" dirty="0" smtClean="0"/>
          </a:p>
          <a:p>
            <a:r>
              <a:rPr lang="de-AT" sz="2400" dirty="0" smtClean="0"/>
              <a:t>Ausgangssituation</a:t>
            </a:r>
            <a:endParaRPr lang="de-AT" sz="2400" i="1" u="sng" dirty="0" smtClean="0"/>
          </a:p>
          <a:p>
            <a:pPr lvl="1"/>
            <a:r>
              <a:rPr lang="de-AT" sz="1800" dirty="0" smtClean="0"/>
              <a:t>Bestehende Website &amp; Blog</a:t>
            </a:r>
          </a:p>
          <a:p>
            <a:pPr lvl="1"/>
            <a:r>
              <a:rPr lang="de-AT" sz="1800" dirty="0" smtClean="0"/>
              <a:t>Landing Page (Kontaktformular)</a:t>
            </a:r>
          </a:p>
          <a:p>
            <a:pPr lvl="1"/>
            <a:r>
              <a:rPr lang="de-AT" sz="1800" dirty="0" smtClean="0"/>
              <a:t>Bestehende soziale Medienpräsenz</a:t>
            </a:r>
          </a:p>
          <a:p>
            <a:endParaRPr lang="de-AT" sz="2400" dirty="0" smtClean="0"/>
          </a:p>
          <a:p>
            <a:r>
              <a:rPr lang="de-AT" sz="2400" dirty="0" smtClean="0"/>
              <a:t>Ziele der Online-Marketing &amp; Zielgruppe</a:t>
            </a:r>
          </a:p>
          <a:p>
            <a:endParaRPr lang="de-AT" sz="2400" dirty="0" smtClean="0"/>
          </a:p>
          <a:p>
            <a:r>
              <a:rPr lang="de-AT" sz="2400" dirty="0" smtClean="0"/>
              <a:t>Promotion (aus den 4 P‘s): Marketing Maßnahmen</a:t>
            </a:r>
            <a:endParaRPr lang="de-AT" sz="1800" dirty="0" smtClean="0"/>
          </a:p>
          <a:p>
            <a:pPr lvl="1"/>
            <a:endParaRPr lang="de-AT" sz="2000" dirty="0"/>
          </a:p>
        </p:txBody>
      </p:sp>
      <p:grpSp>
        <p:nvGrpSpPr>
          <p:cNvPr id="9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1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7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AT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rPr>
                <a:t>2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563562"/>
          </a:xfrm>
        </p:spPr>
        <p:txBody>
          <a:bodyPr>
            <a:noAutofit/>
          </a:bodyPr>
          <a:lstStyle/>
          <a:p>
            <a:r>
              <a:rPr lang="de-AT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SWOT Analsyse</a:t>
            </a:r>
            <a:endParaRPr lang="de-AT" sz="3200" dirty="0"/>
          </a:p>
        </p:txBody>
      </p:sp>
      <p:sp>
        <p:nvSpPr>
          <p:cNvPr id="7" name="Title 7"/>
          <p:cNvSpPr txBox="1">
            <a:spLocks/>
          </p:cNvSpPr>
          <p:nvPr/>
        </p:nvSpPr>
        <p:spPr>
          <a:xfrm>
            <a:off x="609600" y="1"/>
            <a:ext cx="77724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rPr>
              <a:t>Abigail </a:t>
            </a:r>
            <a:r>
              <a:rPr lang="de-AT" sz="2000" dirty="0" smtClean="0">
                <a:solidFill>
                  <a:schemeClr val="bg1"/>
                </a:solidFill>
                <a:latin typeface="Mystery Quest" pitchFamily="2" charset="0"/>
                <a:ea typeface="Mystery Quest" pitchFamily="2" charset="0"/>
                <a:cs typeface="+mj-cs"/>
              </a:rPr>
              <a:t>Cards - Online </a:t>
            </a:r>
            <a:r>
              <a:rPr kumimoji="0" lang="de-AT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rPr>
              <a:t>Marketingkonzept</a:t>
            </a:r>
            <a:endParaRPr kumimoji="0" lang="de-AT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ystery Quest" pitchFamily="2" charset="0"/>
              <a:ea typeface="Mystery Quest" pitchFamily="2" charset="0"/>
              <a:cs typeface="+mj-cs"/>
            </a:endParaRPr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0" y="6477000"/>
            <a:ext cx="3810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rPr>
              <a:t>1</a:t>
            </a:r>
            <a:endParaRPr kumimoji="0" lang="de-AT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ystery Quest" pitchFamily="2" charset="0"/>
              <a:ea typeface="Mystery Quest" pitchFamily="2" charset="0"/>
              <a:cs typeface="+mj-cs"/>
            </a:endParaRPr>
          </a:p>
        </p:txBody>
      </p:sp>
      <p:sp>
        <p:nvSpPr>
          <p:cNvPr id="10" name="Rectangle 4"/>
          <p:cNvSpPr>
            <a:spLocks noChangeAspect="1" noChangeArrowheads="1"/>
          </p:cNvSpPr>
          <p:nvPr/>
        </p:nvSpPr>
        <p:spPr bwMode="auto">
          <a:xfrm>
            <a:off x="690562" y="1066800"/>
            <a:ext cx="3851275" cy="333375"/>
          </a:xfrm>
          <a:prstGeom prst="rect">
            <a:avLst/>
          </a:prstGeom>
          <a:solidFill>
            <a:srgbClr val="FFFFFF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/>
          <a:lstStyle/>
          <a:p>
            <a:pPr lvl="1" algn="ctr">
              <a:lnSpc>
                <a:spcPct val="80000"/>
              </a:lnSpc>
              <a:defRPr/>
            </a:pPr>
            <a:endParaRPr lang="de-AT" sz="200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90562" y="1473200"/>
            <a:ext cx="3881438" cy="2260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/>
              <a:t>Kompetenz: </a:t>
            </a:r>
            <a:r>
              <a:rPr lang="de-AT" altLang="ja-JP" sz="1600" dirty="0" smtClean="0"/>
              <a:t>„Abigail“ ist zertifizierte Kartenlegerin und hat Erfahrung in Lebensberatung mit Zigeunerkarten mit exzellenten Feedbacks (Bekanntenkreis)</a:t>
            </a: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dirty="0" smtClean="0"/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/>
              <a:t>Begeisterungsfaktor: </a:t>
            </a:r>
            <a:r>
              <a:rPr lang="de-AT" altLang="ja-JP" sz="1600" dirty="0" smtClean="0"/>
              <a:t>Brasilianer schätzen ausländische Produkte/Dienstleistungen und halten Osteuropäer/Zigeuner für besonders mystisch </a:t>
            </a:r>
            <a:r>
              <a:rPr lang="de-AT" altLang="ja-JP" sz="1600" dirty="0" smtClean="0">
                <a:sym typeface="Wingdings" pitchFamily="2" charset="2"/>
              </a:rPr>
              <a:t></a:t>
            </a: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dirty="0" smtClean="0">
              <a:sym typeface="Wingdings" pitchFamily="2" charset="2"/>
            </a:endParaRP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>
                <a:sym typeface="Wingdings" pitchFamily="2" charset="2"/>
              </a:rPr>
              <a:t>Investition: </a:t>
            </a:r>
            <a:r>
              <a:rPr lang="de-AT" altLang="ja-JP" sz="1600" dirty="0" smtClean="0">
                <a:sym typeface="Wingdings" pitchFamily="2" charset="2"/>
              </a:rPr>
              <a:t>gering</a:t>
            </a:r>
            <a:endParaRPr lang="de-AT" altLang="ja-JP" sz="1600" dirty="0" smtClean="0"/>
          </a:p>
          <a:p>
            <a:pPr marL="342900" indent="-342900">
              <a:lnSpc>
                <a:spcPct val="80000"/>
              </a:lnSpc>
              <a:defRPr/>
            </a:pPr>
            <a:endParaRPr lang="de-AT" altLang="ja-JP" sz="1600" b="1" dirty="0" smtClean="0"/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400" dirty="0" smtClean="0">
              <a:ea typeface="ＭＳ 明朝" charset="0"/>
              <a:cs typeface="ＭＳ 明朝" charset="0"/>
            </a:endParaRP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400" dirty="0" smtClean="0">
              <a:ea typeface="ＭＳ 明朝" charset="0"/>
              <a:cs typeface="ＭＳ 明朝" charset="0"/>
            </a:endParaRP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400" dirty="0" smtClean="0">
              <a:ea typeface="ＭＳ 明朝" charset="0"/>
              <a:cs typeface="ＭＳ 明朝" charset="0"/>
            </a:endParaRP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200" dirty="0">
              <a:ea typeface="ＭＳ 明朝" charset="0"/>
              <a:cs typeface="ＭＳ 明朝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4740275" y="1473199"/>
            <a:ext cx="3881438" cy="228759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b="1" dirty="0" smtClean="0">
              <a:sym typeface="Wingdings" pitchFamily="2" charset="2"/>
            </a:endParaRP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>
                <a:sym typeface="Wingdings" pitchFamily="2" charset="2"/>
              </a:rPr>
              <a:t>Geografisch: </a:t>
            </a:r>
            <a:r>
              <a:rPr lang="de-AT" altLang="ja-JP" sz="1600" dirty="0" smtClean="0">
                <a:sym typeface="Wingdings" pitchFamily="2" charset="2"/>
              </a:rPr>
              <a:t>Persönliche Beratung meistens unmöglich.</a:t>
            </a: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dirty="0" smtClean="0">
              <a:sym typeface="Wingdings" pitchFamily="2" charset="2"/>
            </a:endParaRP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>
                <a:sym typeface="Wingdings" pitchFamily="2" charset="2"/>
              </a:rPr>
              <a:t>Ressourcen</a:t>
            </a:r>
            <a:r>
              <a:rPr lang="de-AT" altLang="ja-JP" sz="1600" dirty="0" smtClean="0">
                <a:sym typeface="Wingdings" pitchFamily="2" charset="2"/>
              </a:rPr>
              <a:t>: Zeitliche Verfügbarkeit für Content-Generierung in mehreren Sprachen.</a:t>
            </a:r>
            <a:endParaRPr lang="de-AT" altLang="ja-JP" sz="1600" dirty="0">
              <a:sym typeface="Wingdings" pitchFamily="2" charset="2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54162" y="1138237"/>
            <a:ext cx="21605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/>
          <a:p>
            <a:pPr marL="342900" indent="-342900" algn="ctr">
              <a:lnSpc>
                <a:spcPct val="80000"/>
              </a:lnSpc>
            </a:pPr>
            <a:r>
              <a:rPr lang="de-AT" sz="1600" b="1" dirty="0" smtClean="0">
                <a:solidFill>
                  <a:srgbClr val="674BA9"/>
                </a:solidFill>
                <a:latin typeface="+mj-lt"/>
              </a:rPr>
              <a:t>Strengths </a:t>
            </a:r>
            <a:endParaRPr lang="de-AT" sz="1600" b="1" dirty="0">
              <a:solidFill>
                <a:srgbClr val="674BA9"/>
              </a:solidFill>
              <a:latin typeface="+mj-lt"/>
            </a:endParaRPr>
          </a:p>
        </p:txBody>
      </p:sp>
      <p:sp>
        <p:nvSpPr>
          <p:cNvPr id="14" name="Rectangle 10"/>
          <p:cNvSpPr>
            <a:spLocks noChangeAspect="1" noChangeArrowheads="1"/>
          </p:cNvSpPr>
          <p:nvPr/>
        </p:nvSpPr>
        <p:spPr bwMode="auto">
          <a:xfrm>
            <a:off x="4741862" y="1079500"/>
            <a:ext cx="3868738" cy="333375"/>
          </a:xfrm>
          <a:prstGeom prst="rect">
            <a:avLst/>
          </a:prstGeom>
          <a:solidFill>
            <a:srgbClr val="FFFFFF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/>
          <a:lstStyle/>
          <a:p>
            <a:pPr lvl="1" algn="ctr">
              <a:lnSpc>
                <a:spcPct val="80000"/>
              </a:lnSpc>
              <a:defRPr/>
            </a:pPr>
            <a:endParaRPr lang="de-AT" sz="2000"/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5586412" y="1150937"/>
            <a:ext cx="21605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/>
          <a:p>
            <a:pPr marL="342900" indent="-342900" algn="ctr">
              <a:lnSpc>
                <a:spcPct val="80000"/>
              </a:lnSpc>
            </a:pPr>
            <a:r>
              <a:rPr lang="de-AT" sz="1600" b="1" smtClean="0">
                <a:solidFill>
                  <a:srgbClr val="674BA9"/>
                </a:solidFill>
                <a:latin typeface="+mj-lt"/>
              </a:rPr>
              <a:t>Weaknesses </a:t>
            </a:r>
            <a:endParaRPr lang="de-AT" sz="1600" b="1" dirty="0">
              <a:solidFill>
                <a:srgbClr val="674BA9"/>
              </a:solidFill>
              <a:latin typeface="+mj-lt"/>
            </a:endParaRPr>
          </a:p>
        </p:txBody>
      </p:sp>
      <p:sp>
        <p:nvSpPr>
          <p:cNvPr id="16" name="Rectangle 4"/>
          <p:cNvSpPr>
            <a:spLocks noChangeAspect="1" noChangeArrowheads="1"/>
          </p:cNvSpPr>
          <p:nvPr/>
        </p:nvSpPr>
        <p:spPr bwMode="auto">
          <a:xfrm>
            <a:off x="690562" y="3900487"/>
            <a:ext cx="3851275" cy="333375"/>
          </a:xfrm>
          <a:prstGeom prst="rect">
            <a:avLst/>
          </a:prstGeom>
          <a:solidFill>
            <a:srgbClr val="FFFFFF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/>
          <a:lstStyle/>
          <a:p>
            <a:pPr lvl="1" algn="ctr">
              <a:lnSpc>
                <a:spcPct val="80000"/>
              </a:lnSpc>
              <a:defRPr/>
            </a:pPr>
            <a:endParaRPr lang="de-AT" sz="2000"/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690562" y="4306887"/>
            <a:ext cx="3870325" cy="19939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b="1" dirty="0" smtClean="0"/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/>
              <a:t>Online Marketing-Vorteil: </a:t>
            </a:r>
            <a:r>
              <a:rPr lang="de-AT" altLang="ja-JP" sz="1600" dirty="0" smtClean="0"/>
              <a:t>Konkurrenz nutzt (noch) kaum OM-Strategien (altmodische Websites, keine FB-Werbungen...)</a:t>
            </a: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dirty="0" smtClean="0"/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/>
              <a:t>Wachstumspotenzial</a:t>
            </a:r>
            <a:r>
              <a:rPr lang="de-AT" altLang="ja-JP" sz="1600" dirty="0" smtClean="0"/>
              <a:t>: Zigeunerkarten aus Osteuropa noch in Brasilien etwas unbekannt.</a:t>
            </a: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400" dirty="0">
              <a:ea typeface="ＭＳ 明朝" charset="0"/>
              <a:cs typeface="ＭＳ 明朝" charset="0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4740275" y="4306887"/>
            <a:ext cx="3870325" cy="2017713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dirty="0" smtClean="0"/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r>
              <a:rPr lang="de-AT" altLang="ja-JP" sz="1600" b="1" dirty="0" smtClean="0"/>
              <a:t>Finanziell: </a:t>
            </a:r>
            <a:r>
              <a:rPr lang="de-AT" altLang="ja-JP" sz="1600" dirty="0" smtClean="0"/>
              <a:t>geringe Zahlungsbereitschaft von Kunden bzw. schwierige Zahlungsmethoden (Im Vergleich zur persönlichen Beratung)</a:t>
            </a:r>
          </a:p>
          <a:p>
            <a:pPr marL="342900" indent="-342900">
              <a:lnSpc>
                <a:spcPct val="80000"/>
              </a:lnSpc>
              <a:buFont typeface="Symbol" charset="0"/>
              <a:buChar char="·"/>
              <a:defRPr/>
            </a:pPr>
            <a:endParaRPr lang="de-AT" altLang="ja-JP" sz="1600" dirty="0" smtClean="0"/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554162" y="3971925"/>
            <a:ext cx="21605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/>
          <a:p>
            <a:pPr marL="342900" indent="-342900" algn="ctr">
              <a:lnSpc>
                <a:spcPct val="80000"/>
              </a:lnSpc>
            </a:pPr>
            <a:r>
              <a:rPr lang="de-AT" sz="1600" b="1" smtClean="0">
                <a:solidFill>
                  <a:srgbClr val="674BA9"/>
                </a:solidFill>
                <a:latin typeface="+mj-lt"/>
              </a:rPr>
              <a:t>Opportunities </a:t>
            </a:r>
            <a:endParaRPr lang="de-AT" sz="1600" b="1" dirty="0">
              <a:solidFill>
                <a:srgbClr val="674BA9"/>
              </a:solidFill>
              <a:latin typeface="+mj-lt"/>
            </a:endParaRPr>
          </a:p>
        </p:txBody>
      </p:sp>
      <p:sp>
        <p:nvSpPr>
          <p:cNvPr id="20" name="Rectangle 10"/>
          <p:cNvSpPr>
            <a:spLocks noChangeAspect="1" noChangeArrowheads="1"/>
          </p:cNvSpPr>
          <p:nvPr/>
        </p:nvSpPr>
        <p:spPr bwMode="auto">
          <a:xfrm>
            <a:off x="4741862" y="3913187"/>
            <a:ext cx="3868738" cy="333375"/>
          </a:xfrm>
          <a:prstGeom prst="rect">
            <a:avLst/>
          </a:prstGeom>
          <a:solidFill>
            <a:srgbClr val="FFFFFF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0" rIns="0" bIns="0"/>
          <a:lstStyle/>
          <a:p>
            <a:pPr lvl="1" algn="ctr">
              <a:lnSpc>
                <a:spcPct val="80000"/>
              </a:lnSpc>
              <a:defRPr/>
            </a:pPr>
            <a:endParaRPr lang="de-AT" sz="2000"/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5586412" y="3984625"/>
            <a:ext cx="2160588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/>
          <a:lstStyle/>
          <a:p>
            <a:pPr marL="342900" indent="-342900" algn="ctr">
              <a:lnSpc>
                <a:spcPct val="80000"/>
              </a:lnSpc>
            </a:pPr>
            <a:r>
              <a:rPr lang="de-AT" sz="1600" b="1" smtClean="0">
                <a:solidFill>
                  <a:srgbClr val="674BA9"/>
                </a:solidFill>
                <a:latin typeface="+mj-lt"/>
              </a:rPr>
              <a:t>Threats</a:t>
            </a:r>
            <a:r>
              <a:rPr lang="de-AT" sz="1600" smtClean="0">
                <a:solidFill>
                  <a:srgbClr val="674BA9"/>
                </a:solidFill>
              </a:rPr>
              <a:t> </a:t>
            </a:r>
            <a:endParaRPr lang="de-AT" sz="1600" dirty="0">
              <a:solidFill>
                <a:srgbClr val="674BA9"/>
              </a:solidFill>
            </a:endParaRPr>
          </a:p>
        </p:txBody>
      </p:sp>
      <p:grpSp>
        <p:nvGrpSpPr>
          <p:cNvPr id="3" name="Group 3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4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5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8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36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34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2000" dirty="0" smtClean="0">
                  <a:solidFill>
                    <a:schemeClr val="bg1"/>
                  </a:solidFill>
                  <a:latin typeface="Mystery Quest" pitchFamily="2" charset="0"/>
                  <a:ea typeface="Mystery Quest" pitchFamily="2" charset="0"/>
                  <a:cs typeface="+mj-cs"/>
                </a:rPr>
                <a:t>3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563562"/>
          </a:xfrm>
        </p:spPr>
        <p:txBody>
          <a:bodyPr>
            <a:noAutofit/>
          </a:bodyPr>
          <a:lstStyle/>
          <a:p>
            <a:r>
              <a:rPr lang="de-DE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Ausgangssituation  - Website &amp; Blog</a:t>
            </a:r>
            <a:endParaRPr lang="de-AT" sz="3200" dirty="0" smtClean="0">
              <a:solidFill>
                <a:srgbClr val="674BA9"/>
              </a:solidFill>
              <a:latin typeface="Mystery Quest" pitchFamily="2" charset="0"/>
              <a:ea typeface="Mystery Ques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4495800" cy="2209800"/>
          </a:xfrm>
        </p:spPr>
        <p:txBody>
          <a:bodyPr>
            <a:normAutofit fontScale="92500" lnSpcReduction="20000"/>
          </a:bodyPr>
          <a:lstStyle/>
          <a:p>
            <a:r>
              <a:rPr lang="de-AT" sz="2000" b="1" dirty="0" smtClean="0"/>
              <a:t>Statische Website</a:t>
            </a:r>
          </a:p>
          <a:p>
            <a:pPr lvl="1"/>
            <a:r>
              <a:rPr lang="de-AT" sz="1600" dirty="0" smtClean="0"/>
              <a:t>HTML, CSS, JavaScript, PHP</a:t>
            </a:r>
          </a:p>
          <a:p>
            <a:pPr lvl="1"/>
            <a:r>
              <a:rPr lang="de-AT" sz="1600" b="1" dirty="0" smtClean="0">
                <a:solidFill>
                  <a:srgbClr val="674BA9"/>
                </a:solidFill>
              </a:rPr>
              <a:t>Responsive</a:t>
            </a:r>
            <a:r>
              <a:rPr lang="de-AT" sz="1600" dirty="0" smtClean="0"/>
              <a:t> (Desktop, Tablet, Mobile...)</a:t>
            </a:r>
          </a:p>
          <a:p>
            <a:pPr lvl="1"/>
            <a:r>
              <a:rPr lang="de-AT" sz="1600" dirty="0" smtClean="0"/>
              <a:t>Fixes Content: </a:t>
            </a:r>
            <a:r>
              <a:rPr lang="de-AT" sz="1600" i="1" dirty="0" smtClean="0"/>
              <a:t>Geschichte der Zigeunerkarten</a:t>
            </a:r>
            <a:r>
              <a:rPr lang="de-AT" sz="1600" dirty="0" smtClean="0"/>
              <a:t>, </a:t>
            </a:r>
            <a:r>
              <a:rPr lang="de-AT" sz="1600" i="1" dirty="0" smtClean="0"/>
              <a:t>Bedeutung der Einzelkarten</a:t>
            </a:r>
          </a:p>
          <a:p>
            <a:pPr lvl="1"/>
            <a:r>
              <a:rPr lang="de-AT" sz="1600" b="1" dirty="0" smtClean="0">
                <a:solidFill>
                  <a:srgbClr val="674BA9"/>
                </a:solidFill>
              </a:rPr>
              <a:t>LP</a:t>
            </a:r>
            <a:r>
              <a:rPr lang="de-AT" sz="1600" dirty="0" smtClean="0"/>
              <a:t>: Formular für Fragen (</a:t>
            </a:r>
            <a:r>
              <a:rPr lang="de-AT" sz="1600" b="1" dirty="0" smtClean="0">
                <a:solidFill>
                  <a:srgbClr val="674BA9"/>
                </a:solidFill>
              </a:rPr>
              <a:t>Leads</a:t>
            </a:r>
            <a:r>
              <a:rPr lang="de-AT" sz="1600" dirty="0" smtClean="0"/>
              <a:t>/E-Mails „sammeln“)</a:t>
            </a:r>
          </a:p>
          <a:p>
            <a:pPr lvl="1"/>
            <a:r>
              <a:rPr lang="de-AT" sz="1600" dirty="0" smtClean="0"/>
              <a:t>Links zu </a:t>
            </a:r>
            <a:r>
              <a:rPr lang="de-AT" sz="1600" b="1" dirty="0" smtClean="0">
                <a:solidFill>
                  <a:srgbClr val="674BA9"/>
                </a:solidFill>
              </a:rPr>
              <a:t>sozialen Medien </a:t>
            </a:r>
            <a:r>
              <a:rPr lang="de-AT" sz="1600" dirty="0" smtClean="0"/>
              <a:t>(FB-Seiten, Instagram, Youtube)</a:t>
            </a:r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pPr lvl="1"/>
            <a:endParaRPr lang="de-AT" sz="1600" dirty="0" smtClean="0"/>
          </a:p>
          <a:p>
            <a:endParaRPr lang="de-AT" sz="2000" dirty="0" smtClean="0"/>
          </a:p>
          <a:p>
            <a:endParaRPr lang="de-AT" sz="2000" dirty="0" smtClean="0"/>
          </a:p>
          <a:p>
            <a:pPr lvl="1">
              <a:buNone/>
            </a:pPr>
            <a:endParaRPr lang="de-AT" sz="1600" dirty="0" smtClean="0"/>
          </a:p>
          <a:p>
            <a:pPr lvl="1"/>
            <a:endParaRPr lang="de-AT" sz="1600" dirty="0" smtClean="0"/>
          </a:p>
          <a:p>
            <a:endParaRPr lang="de-AT" sz="2000" dirty="0"/>
          </a:p>
        </p:txBody>
      </p:sp>
      <p:grpSp>
        <p:nvGrpSpPr>
          <p:cNvPr id="9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1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7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AT" sz="20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rPr>
                <a:t>4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666998"/>
            <a:ext cx="3657600" cy="3598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352798"/>
            <a:ext cx="4419600" cy="2953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Content Placeholder 2"/>
          <p:cNvSpPr txBox="1">
            <a:spLocks/>
          </p:cNvSpPr>
          <p:nvPr/>
        </p:nvSpPr>
        <p:spPr>
          <a:xfrm>
            <a:off x="5029200" y="1066800"/>
            <a:ext cx="41148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de-AT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BLOG in</a:t>
            </a:r>
            <a:r>
              <a:rPr kumimoji="0" lang="de-AT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de-AT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Wordpress</a:t>
            </a:r>
            <a:r>
              <a:rPr lang="de-AT" sz="2000" b="1" dirty="0" smtClean="0"/>
              <a:t> [PT/DE]</a:t>
            </a:r>
            <a:endParaRPr kumimoji="0" lang="de-AT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kumimoji="0" lang="de-AT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74BA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 Marketing</a:t>
            </a:r>
            <a:r>
              <a: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lang="de-AT" sz="1600" u="sng" dirty="0" smtClean="0"/>
              <a:t>1x Woche: </a:t>
            </a:r>
            <a:r>
              <a: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Textbeiträge &amp; Videos – </a:t>
            </a:r>
            <a:r>
              <a:rPr kumimoji="0" lang="de-AT" sz="16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Youtube Channel</a:t>
            </a:r>
            <a:r>
              <a: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de-AT" sz="1600" dirty="0" smtClean="0"/>
              <a:t>Links zu </a:t>
            </a:r>
            <a:r>
              <a:rPr lang="de-AT" sz="1600" b="1" dirty="0" smtClean="0">
                <a:solidFill>
                  <a:srgbClr val="674BA9"/>
                </a:solidFill>
              </a:rPr>
              <a:t>sozialen Medien</a:t>
            </a:r>
            <a:r>
              <a:rPr lang="de-AT" sz="1600" dirty="0" smtClean="0"/>
              <a:t>, Statische Webiste &amp; </a:t>
            </a:r>
            <a:r>
              <a:rPr lang="de-AT" sz="1600" b="1" dirty="0" smtClean="0"/>
              <a:t>LP</a:t>
            </a:r>
            <a:endParaRPr kumimoji="0" lang="de-AT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91025" y="3276599"/>
            <a:ext cx="304800" cy="228600"/>
          </a:xfrm>
          <a:prstGeom prst="ellipse">
            <a:avLst/>
          </a:prstGeom>
          <a:noFill/>
          <a:ln>
            <a:solidFill>
              <a:srgbClr val="674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Curved Down Arrow 16"/>
          <p:cNvSpPr/>
          <p:nvPr/>
        </p:nvSpPr>
        <p:spPr>
          <a:xfrm rot="19318316">
            <a:off x="4108243" y="2300226"/>
            <a:ext cx="1263701" cy="661573"/>
          </a:xfrm>
          <a:prstGeom prst="curvedDownArrow">
            <a:avLst>
              <a:gd name="adj1" fmla="val 25000"/>
              <a:gd name="adj2" fmla="val 53182"/>
              <a:gd name="adj3" fmla="val 26546"/>
            </a:avLst>
          </a:prstGeom>
          <a:solidFill>
            <a:srgbClr val="674BA9"/>
          </a:solidFill>
          <a:ln>
            <a:solidFill>
              <a:srgbClr val="B38C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457200" y="6400800"/>
            <a:ext cx="79248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de-AT" sz="2000" b="1" u="sng" dirty="0" smtClean="0">
                <a:solidFill>
                  <a:srgbClr val="674BA9"/>
                </a:solidFill>
              </a:rPr>
              <a:t>SEO Optimierung </a:t>
            </a:r>
            <a:r>
              <a:rPr lang="de-AT" sz="2000" u="sng" dirty="0" smtClean="0"/>
              <a:t>laufend </a:t>
            </a:r>
            <a:r>
              <a:rPr kumimoji="0" lang="de-AT" sz="20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\</a:t>
            </a:r>
            <a:r>
              <a:rPr kumimoji="0" lang="de-AT" sz="20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de-AT" sz="2000" b="1" i="0" u="sng" strike="noStrike" kern="1200" cap="none" spc="0" normalizeH="0" noProof="0" dirty="0" smtClean="0">
                <a:ln>
                  <a:noFill/>
                </a:ln>
                <a:solidFill>
                  <a:srgbClr val="674BA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Google Analytics </a:t>
            </a:r>
            <a:r>
              <a:rPr kumimoji="0" lang="de-AT" sz="2000" b="0" i="0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&amp; </a:t>
            </a:r>
            <a:r>
              <a:rPr kumimoji="0" lang="de-AT" sz="2000" b="1" i="0" u="sng" strike="noStrike" kern="1200" cap="none" spc="0" normalizeH="0" noProof="0" dirty="0" smtClean="0">
                <a:ln>
                  <a:noFill/>
                </a:ln>
                <a:solidFill>
                  <a:srgbClr val="674BA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Google Search Console</a:t>
            </a:r>
            <a:endParaRPr kumimoji="0" lang="de-AT" sz="2000" b="1" i="0" u="sng" strike="noStrike" kern="1200" cap="none" spc="0" normalizeH="0" baseline="0" noProof="0" dirty="0">
              <a:ln>
                <a:noFill/>
              </a:ln>
              <a:solidFill>
                <a:srgbClr val="674BA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ach links gekrümmter Pfeil 17"/>
          <p:cNvSpPr/>
          <p:nvPr/>
        </p:nvSpPr>
        <p:spPr>
          <a:xfrm rot="16200000">
            <a:off x="2154236" y="813893"/>
            <a:ext cx="1101729" cy="3886199"/>
          </a:xfrm>
          <a:prstGeom prst="curvedLeftArrow">
            <a:avLst/>
          </a:prstGeom>
          <a:solidFill>
            <a:srgbClr val="B38CD9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Nach links gekrümmter Pfeil 17"/>
          <p:cNvSpPr/>
          <p:nvPr/>
        </p:nvSpPr>
        <p:spPr>
          <a:xfrm rot="16200000" flipH="1" flipV="1">
            <a:off x="2166728" y="2706406"/>
            <a:ext cx="1076740" cy="3886193"/>
          </a:xfrm>
          <a:prstGeom prst="curvedLeftArrow">
            <a:avLst/>
          </a:prstGeom>
          <a:solidFill>
            <a:srgbClr val="B38CD9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563562"/>
          </a:xfrm>
        </p:spPr>
        <p:txBody>
          <a:bodyPr>
            <a:noAutofit/>
          </a:bodyPr>
          <a:lstStyle/>
          <a:p>
            <a:r>
              <a:rPr lang="de-DE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Ausgangssituation  - LP (Kontaktformular)</a:t>
            </a:r>
            <a:endParaRPr lang="de-AT" sz="3200" dirty="0" smtClean="0">
              <a:solidFill>
                <a:srgbClr val="674BA9"/>
              </a:solidFill>
              <a:latin typeface="Mystery Quest" pitchFamily="2" charset="0"/>
              <a:ea typeface="Mystery Quest" pitchFamily="2" charset="0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7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2000" noProof="0" dirty="0" smtClean="0">
                  <a:solidFill>
                    <a:schemeClr val="bg1"/>
                  </a:solidFill>
                  <a:latin typeface="Mystery Quest" pitchFamily="2" charset="0"/>
                  <a:ea typeface="Mystery Quest" pitchFamily="2" charset="0"/>
                  <a:cs typeface="+mj-cs"/>
                </a:rPr>
                <a:t>5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00200" y="2718486"/>
            <a:ext cx="2209800" cy="512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lang="de-AT" dirty="0" smtClean="0"/>
              <a:t>Kontaktaufnahme </a:t>
            </a:r>
          </a:p>
          <a:p>
            <a:pPr algn="ctr">
              <a:defRPr/>
            </a:pPr>
            <a:r>
              <a:rPr lang="de-AT" dirty="0" smtClean="0"/>
              <a:t>(</a:t>
            </a:r>
            <a:r>
              <a:rPr lang="de-AT" b="1" dirty="0" smtClean="0">
                <a:solidFill>
                  <a:srgbClr val="674BA9"/>
                </a:solidFill>
              </a:rPr>
              <a:t>LP</a:t>
            </a:r>
            <a:r>
              <a:rPr lang="de-AT" dirty="0" smtClean="0"/>
              <a:t>, </a:t>
            </a:r>
            <a:r>
              <a:rPr lang="de-AT" b="1" dirty="0" smtClean="0">
                <a:solidFill>
                  <a:srgbClr val="674BA9"/>
                </a:solidFill>
              </a:rPr>
              <a:t>CallToAction</a:t>
            </a:r>
            <a:r>
              <a:rPr lang="de-AT" dirty="0" smtClean="0"/>
              <a:t>)</a:t>
            </a:r>
            <a:endParaRPr lang="en-GB" dirty="0">
              <a:latin typeface="+mj-lt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3344" y="1066800"/>
            <a:ext cx="2116656" cy="1662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2686" y="4267200"/>
            <a:ext cx="1868714" cy="1706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600200" y="3657600"/>
            <a:ext cx="2133600" cy="588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lang="de-AT" dirty="0" smtClean="0"/>
              <a:t>Gratis 3-Kartenlegung </a:t>
            </a:r>
          </a:p>
          <a:p>
            <a:pPr algn="ctr">
              <a:defRPr/>
            </a:pPr>
            <a:r>
              <a:rPr lang="de-AT" dirty="0" smtClean="0"/>
              <a:t>(Per Email)</a:t>
            </a:r>
          </a:p>
        </p:txBody>
      </p:sp>
      <p:pic>
        <p:nvPicPr>
          <p:cNvPr id="29707" name="Picture 11" descr="C:\Users\Daniel\AppData\Local\Microsoft\Windows\INetCache\IE\JN0X1VD2\art_216535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3404286"/>
            <a:ext cx="685800" cy="639166"/>
          </a:xfrm>
          <a:prstGeom prst="rect">
            <a:avLst/>
          </a:prstGeom>
          <a:noFill/>
        </p:spPr>
      </p:pic>
      <p:pic>
        <p:nvPicPr>
          <p:cNvPr id="29710" name="Picture 14" descr="C:\Users\Daniel\AppData\Local\Microsoft\Windows\INetCache\IE\VC2V8TVP\Question-Girl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3404286"/>
            <a:ext cx="553902" cy="626684"/>
          </a:xfrm>
          <a:prstGeom prst="rect">
            <a:avLst/>
          </a:prstGeom>
          <a:noFill/>
        </p:spPr>
      </p:pic>
      <p:sp>
        <p:nvSpPr>
          <p:cNvPr id="47" name="Nach links gekrümmter Pfeil 17"/>
          <p:cNvSpPr/>
          <p:nvPr/>
        </p:nvSpPr>
        <p:spPr>
          <a:xfrm rot="16200000">
            <a:off x="6535736" y="724306"/>
            <a:ext cx="1101729" cy="3810000"/>
          </a:xfrm>
          <a:prstGeom prst="curvedLeftArrow">
            <a:avLst/>
          </a:prstGeom>
          <a:solidFill>
            <a:srgbClr val="B38CD9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8" name="Nach links gekrümmter Pfeil 17"/>
          <p:cNvSpPr/>
          <p:nvPr/>
        </p:nvSpPr>
        <p:spPr>
          <a:xfrm rot="16200000" flipH="1" flipV="1">
            <a:off x="6548229" y="2616820"/>
            <a:ext cx="1076740" cy="3809994"/>
          </a:xfrm>
          <a:prstGeom prst="curvedLeftArrow">
            <a:avLst/>
          </a:prstGeom>
          <a:solidFill>
            <a:srgbClr val="B38CD9"/>
          </a:solidFill>
          <a:ln>
            <a:solidFill>
              <a:srgbClr val="674BA9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6096000" y="2438400"/>
            <a:ext cx="1828800" cy="512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lang="de-AT" dirty="0" smtClean="0">
                <a:sym typeface="Wingdings" pitchFamily="2" charset="2"/>
              </a:rPr>
              <a:t>Zahlung (Paypal/</a:t>
            </a:r>
          </a:p>
          <a:p>
            <a:pPr algn="ctr">
              <a:defRPr/>
            </a:pPr>
            <a:r>
              <a:rPr lang="de-AT" dirty="0" smtClean="0">
                <a:sym typeface="Wingdings" pitchFamily="2" charset="2"/>
              </a:rPr>
              <a:t>Direkte Überweisung)</a:t>
            </a:r>
            <a:endParaRPr lang="en-GB" dirty="0">
              <a:latin typeface="+mj-lt"/>
            </a:endParaRP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019800" y="3754437"/>
            <a:ext cx="2133600" cy="512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>
              <a:defRPr/>
            </a:pPr>
            <a:r>
              <a:rPr lang="de-AT" dirty="0" smtClean="0"/>
              <a:t>Komplette Legung</a:t>
            </a:r>
          </a:p>
          <a:p>
            <a:pPr algn="ctr">
              <a:defRPr/>
            </a:pPr>
            <a:r>
              <a:rPr lang="de-AT" dirty="0" smtClean="0"/>
              <a:t>(Per Email)</a:t>
            </a:r>
            <a:endParaRPr lang="en-GB" dirty="0">
              <a:latin typeface="+mj-lt"/>
            </a:endParaRPr>
          </a:p>
        </p:txBody>
      </p:sp>
      <p:pic>
        <p:nvPicPr>
          <p:cNvPr id="53" name="Picture 11" descr="C:\Users\Daniel\AppData\Local\Microsoft\Windows\INetCache\IE\JN0X1VD2\art_216535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58200" y="3276600"/>
            <a:ext cx="685800" cy="639166"/>
          </a:xfrm>
          <a:prstGeom prst="rect">
            <a:avLst/>
          </a:prstGeom>
          <a:noFill/>
        </p:spPr>
      </p:pic>
      <p:pic>
        <p:nvPicPr>
          <p:cNvPr id="54" name="Picture 14" descr="C:\Users\Daniel\AppData\Local\Microsoft\Windows\INetCache\IE\VC2V8TVP\Question-Girl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9200" y="3276600"/>
            <a:ext cx="553902" cy="626684"/>
          </a:xfrm>
          <a:prstGeom prst="rect">
            <a:avLst/>
          </a:prstGeom>
          <a:noFill/>
        </p:spPr>
      </p:pic>
      <p:pic>
        <p:nvPicPr>
          <p:cNvPr id="55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19800" y="4412053"/>
            <a:ext cx="2362200" cy="2369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11" name="Picture 15" descr="C:\Users\Daniel\AppData\Local\Microsoft\Windows\INetCache\IE\JN0X1VD2\money2[1]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53200" y="1447800"/>
            <a:ext cx="914400" cy="914400"/>
          </a:xfrm>
          <a:prstGeom prst="rect">
            <a:avLst/>
          </a:prstGeom>
          <a:noFill/>
        </p:spPr>
      </p:pic>
      <p:sp>
        <p:nvSpPr>
          <p:cNvPr id="58" name="TextBox 57"/>
          <p:cNvSpPr txBox="1"/>
          <p:nvPr/>
        </p:nvSpPr>
        <p:spPr>
          <a:xfrm>
            <a:off x="304800" y="2261286"/>
            <a:ext cx="97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Schritt 1</a:t>
            </a:r>
            <a:endParaRPr lang="de-AT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7772400" y="1905000"/>
            <a:ext cx="97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Schritt 3</a:t>
            </a:r>
            <a:endParaRPr lang="de-AT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381000" y="4699686"/>
            <a:ext cx="97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Schritt 2</a:t>
            </a:r>
            <a:endParaRPr lang="de-AT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5029200" y="4724400"/>
            <a:ext cx="97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smtClean="0"/>
              <a:t>Schritt 4</a:t>
            </a:r>
            <a:endParaRPr lang="de-AT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990600" y="61722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dirty="0" smtClean="0"/>
              <a:t>Angebot für komplette Legung</a:t>
            </a:r>
          </a:p>
          <a:p>
            <a:pPr algn="ctr"/>
            <a:r>
              <a:rPr lang="de-AT" dirty="0" smtClean="0"/>
              <a:t>(Preis wird definiert)</a:t>
            </a:r>
            <a:endParaRPr lang="de-AT" dirty="0"/>
          </a:p>
        </p:txBody>
      </p:sp>
      <p:sp>
        <p:nvSpPr>
          <p:cNvPr id="35" name="TextBox 34"/>
          <p:cNvSpPr txBox="1"/>
          <p:nvPr/>
        </p:nvSpPr>
        <p:spPr>
          <a:xfrm>
            <a:off x="2379856" y="5769114"/>
            <a:ext cx="439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4000" dirty="0" smtClean="0"/>
              <a:t>+</a:t>
            </a:r>
            <a:endParaRPr lang="de-AT" sz="4000" dirty="0"/>
          </a:p>
        </p:txBody>
      </p:sp>
      <p:pic>
        <p:nvPicPr>
          <p:cNvPr id="34" name="Picture 33" descr="logo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563562"/>
          </a:xfrm>
        </p:spPr>
        <p:txBody>
          <a:bodyPr>
            <a:noAutofit/>
          </a:bodyPr>
          <a:lstStyle/>
          <a:p>
            <a:r>
              <a:rPr lang="de-DE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Ausgangssituation – Social Medias</a:t>
            </a:r>
            <a:endParaRPr lang="de-AT" sz="3200" dirty="0" smtClean="0">
              <a:solidFill>
                <a:srgbClr val="674BA9"/>
              </a:solidFill>
              <a:latin typeface="Mystery Quest" pitchFamily="2" charset="0"/>
              <a:ea typeface="Mystery Ques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3886200"/>
          </a:xfrm>
        </p:spPr>
        <p:txBody>
          <a:bodyPr>
            <a:normAutofit fontScale="92500" lnSpcReduction="20000"/>
          </a:bodyPr>
          <a:lstStyle/>
          <a:p>
            <a:r>
              <a:rPr lang="de-AT" sz="2000" b="1" dirty="0" smtClean="0"/>
              <a:t>Facebook-Seiten [PT/DE]</a:t>
            </a:r>
          </a:p>
          <a:p>
            <a:pPr lvl="1"/>
            <a:r>
              <a:rPr lang="de-AT" sz="1600" dirty="0" smtClean="0"/>
              <a:t>Interaktion  mit anderen Branchenseiten (Kartenlegen, Tarot, Pendeln, Astrologie, Selbsthilfe...)</a:t>
            </a:r>
          </a:p>
          <a:p>
            <a:pPr lvl="1"/>
            <a:r>
              <a:rPr lang="de-AT" sz="1600" dirty="0" smtClean="0"/>
              <a:t>Gratis-Beratung auf diese Platformen (</a:t>
            </a:r>
            <a:r>
              <a:rPr lang="de-AT" sz="1600" b="1" dirty="0" smtClean="0">
                <a:solidFill>
                  <a:srgbClr val="674BA9"/>
                </a:solidFill>
              </a:rPr>
              <a:t>Markenaufbau – Likes gewinnen</a:t>
            </a:r>
            <a:r>
              <a:rPr lang="de-AT" sz="1600" dirty="0" smtClean="0"/>
              <a:t>)</a:t>
            </a:r>
          </a:p>
          <a:p>
            <a:pPr lvl="1"/>
            <a:r>
              <a:rPr lang="de-AT" sz="1600" dirty="0" smtClean="0"/>
              <a:t>Neue Posts (</a:t>
            </a:r>
            <a:r>
              <a:rPr lang="de-AT" sz="1600" u="sng" dirty="0" smtClean="0"/>
              <a:t>1x täglich</a:t>
            </a:r>
            <a:r>
              <a:rPr lang="de-AT" sz="1600" dirty="0" smtClean="0"/>
              <a:t>), eigenes </a:t>
            </a:r>
            <a:r>
              <a:rPr lang="de-AT" sz="1600" b="1" dirty="0" smtClean="0">
                <a:solidFill>
                  <a:srgbClr val="674BA9"/>
                </a:solidFill>
              </a:rPr>
              <a:t>Content</a:t>
            </a:r>
            <a:r>
              <a:rPr lang="de-AT" sz="1600" dirty="0" smtClean="0"/>
              <a:t> (</a:t>
            </a:r>
            <a:r>
              <a:rPr lang="de-AT" sz="1600" u="sng" dirty="0" smtClean="0"/>
              <a:t>1x wöchentlich)</a:t>
            </a:r>
            <a:r>
              <a:rPr lang="de-AT" sz="1600" dirty="0" smtClean="0"/>
              <a:t>: Alle Artikel vom Blog werden auch im Facebook  geteilt.</a:t>
            </a:r>
          </a:p>
          <a:p>
            <a:pPr lvl="1"/>
            <a:r>
              <a:rPr lang="de-AT" sz="1600" dirty="0" smtClean="0"/>
              <a:t>Youtube Videos werden auch 1-1 in Facebook hochgeladen (unterschiedliches </a:t>
            </a:r>
            <a:r>
              <a:rPr lang="de-AT" sz="1600" b="1" dirty="0" smtClean="0">
                <a:solidFill>
                  <a:srgbClr val="674BA9"/>
                </a:solidFill>
              </a:rPr>
              <a:t>Zielpublikum</a:t>
            </a:r>
            <a:r>
              <a:rPr lang="de-AT" sz="1600" dirty="0" smtClean="0"/>
              <a:t>)</a:t>
            </a:r>
          </a:p>
          <a:p>
            <a:pPr>
              <a:buNone/>
            </a:pPr>
            <a:endParaRPr lang="de-AT" sz="2000" dirty="0" smtClean="0"/>
          </a:p>
          <a:p>
            <a:r>
              <a:rPr lang="de-AT" sz="2000" b="1" dirty="0" smtClean="0"/>
              <a:t>Youtube [PT/DE]</a:t>
            </a:r>
          </a:p>
          <a:p>
            <a:pPr lvl="1"/>
            <a:r>
              <a:rPr lang="de-AT" sz="1600" dirty="0" smtClean="0"/>
              <a:t>Neues Video (</a:t>
            </a:r>
            <a:r>
              <a:rPr lang="de-AT" sz="1600" u="sng" dirty="0" smtClean="0"/>
              <a:t>1x wöchentlich</a:t>
            </a:r>
            <a:r>
              <a:rPr lang="de-AT" sz="1600" dirty="0" smtClean="0"/>
              <a:t>)</a:t>
            </a:r>
          </a:p>
          <a:p>
            <a:pPr lvl="1"/>
            <a:endParaRPr lang="de-AT" sz="1600" dirty="0" smtClean="0"/>
          </a:p>
          <a:p>
            <a:r>
              <a:rPr lang="de-AT" sz="2000" b="1" dirty="0" smtClean="0"/>
              <a:t>Instagram</a:t>
            </a:r>
          </a:p>
          <a:p>
            <a:pPr lvl="1"/>
            <a:r>
              <a:rPr lang="de-AT" sz="1600" dirty="0" smtClean="0"/>
              <a:t>Interaktion („follow“) mit anderen relevanten Users</a:t>
            </a:r>
          </a:p>
          <a:p>
            <a:pPr lvl="1"/>
            <a:endParaRPr lang="de-AT" sz="1600" dirty="0" smtClean="0"/>
          </a:p>
          <a:p>
            <a:r>
              <a:rPr lang="de-AT" sz="2000" b="1" dirty="0" smtClean="0"/>
              <a:t>Fiverr [EN], VintePila [PT]: </a:t>
            </a:r>
          </a:p>
          <a:p>
            <a:pPr>
              <a:buNone/>
            </a:pPr>
            <a:r>
              <a:rPr lang="de-AT" sz="2000" dirty="0" smtClean="0"/>
              <a:t>	(</a:t>
            </a:r>
            <a:r>
              <a:rPr lang="de-AT" sz="2000" u="sng" dirty="0" smtClean="0"/>
              <a:t>Hier ist der Preis vordefiniert!</a:t>
            </a:r>
            <a:r>
              <a:rPr lang="de-AT" sz="2000" dirty="0" smtClean="0"/>
              <a:t>)</a:t>
            </a:r>
            <a:endParaRPr lang="de-AT" sz="2000" dirty="0"/>
          </a:p>
        </p:txBody>
      </p:sp>
      <p:grpSp>
        <p:nvGrpSpPr>
          <p:cNvPr id="9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1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7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2000" dirty="0" smtClean="0">
                  <a:solidFill>
                    <a:schemeClr val="bg1"/>
                  </a:solidFill>
                  <a:latin typeface="Mystery Quest" pitchFamily="2" charset="0"/>
                  <a:ea typeface="Mystery Quest" pitchFamily="2" charset="0"/>
                  <a:cs typeface="+mj-cs"/>
                </a:rPr>
                <a:t>6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962400"/>
            <a:ext cx="4724400" cy="2755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990600" y="2895600"/>
            <a:ext cx="78486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7038"/>
            <a:ext cx="8229600" cy="563562"/>
          </a:xfrm>
        </p:spPr>
        <p:txBody>
          <a:bodyPr>
            <a:noAutofit/>
          </a:bodyPr>
          <a:lstStyle/>
          <a:p>
            <a:r>
              <a:rPr lang="de-DE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Ziele &amp; Zielgruppe</a:t>
            </a:r>
            <a:endParaRPr lang="de-AT" sz="3200" dirty="0" smtClean="0">
              <a:solidFill>
                <a:srgbClr val="674BA9"/>
              </a:solidFill>
              <a:latin typeface="Mystery Quest" pitchFamily="2" charset="0"/>
              <a:ea typeface="Mystery Quest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1"/>
            <a:ext cx="7848600" cy="1676399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de-AT" sz="2000" b="1" dirty="0" smtClean="0"/>
              <a:t>Ziele der Online-Marketing</a:t>
            </a:r>
          </a:p>
          <a:p>
            <a:pPr>
              <a:buFont typeface="Wingdings" pitchFamily="2" charset="2"/>
              <a:buChar char="Ø"/>
            </a:pPr>
            <a:r>
              <a:rPr lang="de-AT" sz="1900" dirty="0" smtClean="0"/>
              <a:t>Mehr „likes“ auf der Facebook-Seite</a:t>
            </a:r>
          </a:p>
          <a:p>
            <a:pPr>
              <a:buFont typeface="Wingdings" pitchFamily="2" charset="2"/>
              <a:buChar char="Ø"/>
            </a:pPr>
            <a:r>
              <a:rPr lang="de-AT" sz="1900" b="1" dirty="0" smtClean="0">
                <a:solidFill>
                  <a:srgbClr val="674BA9"/>
                </a:solidFill>
              </a:rPr>
              <a:t>Markenaufbau</a:t>
            </a:r>
            <a:r>
              <a:rPr lang="de-AT" sz="1900" dirty="0" smtClean="0"/>
              <a:t> (Besuchenanzahl Website &amp; </a:t>
            </a:r>
            <a:r>
              <a:rPr lang="de-AT" sz="1900" b="1" dirty="0" smtClean="0">
                <a:solidFill>
                  <a:srgbClr val="674BA9"/>
                </a:solidFill>
              </a:rPr>
              <a:t>Social Media</a:t>
            </a:r>
            <a:r>
              <a:rPr lang="de-AT" sz="1900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de-AT" sz="1900" dirty="0" smtClean="0"/>
              <a:t>Mehr </a:t>
            </a:r>
            <a:r>
              <a:rPr lang="de-AT" sz="1900" b="1" dirty="0" smtClean="0">
                <a:solidFill>
                  <a:srgbClr val="674BA9"/>
                </a:solidFill>
              </a:rPr>
              <a:t>Leads</a:t>
            </a:r>
            <a:r>
              <a:rPr lang="de-AT" sz="1900" dirty="0" smtClean="0"/>
              <a:t> generieren (ausgefüllte Kontaktformulare)</a:t>
            </a:r>
          </a:p>
          <a:p>
            <a:pPr>
              <a:buFont typeface="Wingdings" pitchFamily="2" charset="2"/>
              <a:buChar char="Ø"/>
            </a:pPr>
            <a:r>
              <a:rPr lang="de-AT" sz="1900" dirty="0" smtClean="0"/>
              <a:t>Kunden „behalten“ (</a:t>
            </a:r>
            <a:r>
              <a:rPr lang="de-AT" sz="1900" b="1" dirty="0" smtClean="0">
                <a:solidFill>
                  <a:srgbClr val="674BA9"/>
                </a:solidFill>
              </a:rPr>
              <a:t>Email-Marketing</a:t>
            </a:r>
            <a:r>
              <a:rPr lang="de-AT" sz="1900" dirty="0" smtClean="0"/>
              <a:t>)</a:t>
            </a:r>
          </a:p>
        </p:txBody>
      </p:sp>
      <p:grpSp>
        <p:nvGrpSpPr>
          <p:cNvPr id="9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1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7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2000" dirty="0" smtClean="0">
                  <a:solidFill>
                    <a:schemeClr val="bg1"/>
                  </a:solidFill>
                  <a:latin typeface="Mystery Quest" pitchFamily="2" charset="0"/>
                  <a:ea typeface="Mystery Quest" pitchFamily="2" charset="0"/>
                  <a:cs typeface="+mj-cs"/>
                </a:rPr>
                <a:t>7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pic>
        <p:nvPicPr>
          <p:cNvPr id="13" name="Picture 2" descr="Bildergebnis für frau 3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71800"/>
            <a:ext cx="2439289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990600" y="3048000"/>
            <a:ext cx="78486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AT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Zielgruppe – „Persona</a:t>
            </a:r>
            <a:r>
              <a:rPr kumimoji="0" lang="de-AT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endParaRPr kumimoji="0" lang="de-AT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de-DE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Name: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Gudrun Schuster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36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Beruf: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Assistentin der Geschäftsführung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Familie: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ledig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Hobbies: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Kochen, reisen, lesen, Yoga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Wohnung: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2-Zimmer Wohnung in der Stadt (Wien) mit Katze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Internetnutzung: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Desktop/Mobile/Tablet, Recherche, Einkaufen, facebook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Ausbildung: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Handelsschule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DE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Zitat: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 ich viel arbeite und Stress habe, nutze ich meine Freizeit um mich zu entspannen. Ich lese viel und interessiere mich für esoterische Themen (</a:t>
            </a:r>
            <a:r>
              <a:rPr kumimoji="0" lang="de-AT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Horoskop, Kartenlegen, Pendeln...)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Um Zeit zu sparen, kaufe ich online ein. Ich chatte viel mit Freundinnen und bin aktiv auf Facebook.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Wünsche/Bedürfnisse: </a:t>
            </a:r>
            <a:r>
              <a:rPr kumimoji="0" lang="de-DE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Ich würde gerne meinen Seelenpartner finden und brauche Unterstützung.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de-AT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57200"/>
          </a:xfrm>
        </p:spPr>
        <p:txBody>
          <a:bodyPr>
            <a:noAutofit/>
          </a:bodyPr>
          <a:lstStyle/>
          <a:p>
            <a:r>
              <a:rPr lang="de-AT" sz="3200" dirty="0" smtClean="0">
                <a:solidFill>
                  <a:srgbClr val="674BA9"/>
                </a:solidFill>
                <a:latin typeface="Mystery Quest" pitchFamily="2" charset="0"/>
                <a:ea typeface="Mystery Quest" pitchFamily="2" charset="0"/>
              </a:rPr>
              <a:t>Promotion: Marketing Maßnahmen</a:t>
            </a:r>
            <a:endParaRPr lang="de-AT" sz="3200" dirty="0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0" y="6477000"/>
            <a:ext cx="3810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rPr>
              <a:t>1</a:t>
            </a:r>
            <a:endParaRPr kumimoji="0" lang="de-AT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ystery Quest" pitchFamily="2" charset="0"/>
              <a:ea typeface="Mystery Quest" pitchFamily="2" charset="0"/>
              <a:cs typeface="+mj-cs"/>
            </a:endParaRPr>
          </a:p>
        </p:txBody>
      </p:sp>
      <p:grpSp>
        <p:nvGrpSpPr>
          <p:cNvPr id="3" name="Group 2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4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5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32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30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2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2000" noProof="0" dirty="0" smtClean="0">
                  <a:solidFill>
                    <a:schemeClr val="bg1"/>
                  </a:solidFill>
                  <a:latin typeface="Mystery Quest" pitchFamily="2" charset="0"/>
                  <a:ea typeface="Mystery Quest" pitchFamily="2" charset="0"/>
                  <a:cs typeface="+mj-cs"/>
                </a:rPr>
                <a:t>8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353" y="1219200"/>
          <a:ext cx="8349047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sz="1400" dirty="0" smtClean="0"/>
                        <a:t>Marketing Aktivitäten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400" dirty="0" smtClean="0"/>
                        <a:t>Maßnahmen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400" dirty="0" smtClean="0"/>
                        <a:t>Ziele/Anmerkungen</a:t>
                      </a:r>
                      <a:endParaRPr lang="de-A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400" dirty="0" smtClean="0"/>
                        <a:t>Webpräsenz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Google AdWords Kampagne </a:t>
                      </a:r>
                    </a:p>
                    <a:p>
                      <a:pPr>
                        <a:buFontTx/>
                        <a:buChar char="-"/>
                      </a:pPr>
                      <a:endParaRPr lang="de-AT" sz="1400" baseline="0" dirty="0" smtClean="0">
                        <a:solidFill>
                          <a:srgbClr val="674BA9"/>
                        </a:solidFill>
                      </a:endParaRPr>
                    </a:p>
                    <a:p>
                      <a:pPr>
                        <a:buFontTx/>
                        <a:buNone/>
                      </a:pP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Newsletter </a:t>
                      </a:r>
                      <a:endParaRPr lang="de-AT" sz="1400" b="1" dirty="0" smtClean="0">
                        <a:solidFill>
                          <a:srgbClr val="674BA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400" dirty="0" smtClean="0">
                          <a:solidFill>
                            <a:schemeClr val="tx1"/>
                          </a:solidFill>
                        </a:rPr>
                        <a:t>Website wird noch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 wenig besucht. Es wird eine </a:t>
                      </a: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Google Adwords Kampagne</a:t>
                      </a:r>
                      <a:r>
                        <a:rPr lang="de-AT" sz="1400" baseline="0" dirty="0" smtClean="0">
                          <a:solidFill>
                            <a:srgbClr val="674BA9"/>
                          </a:solidFill>
                        </a:rPr>
                        <a:t> 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zuerst für Brasilien definiert und die Ergebnisse schon innerhalb der ersten Tagen mittels </a:t>
                      </a: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Google Analytics 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überwacht.</a:t>
                      </a:r>
                    </a:p>
                    <a:p>
                      <a:endParaRPr lang="de-AT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Gesammelte E-Mails werden in der Zukunft für </a:t>
                      </a: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Newsletter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 und Angebote verwendet (e.g. Am Valentinstag)</a:t>
                      </a:r>
                      <a:endParaRPr lang="de-AT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Social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b="1" kern="1200" baseline="0" dirty="0" smtClean="0">
                          <a:solidFill>
                            <a:srgbClr val="674BA9"/>
                          </a:solidFill>
                          <a:latin typeface="+mn-lt"/>
                          <a:ea typeface="+mn-ea"/>
                          <a:cs typeface="+mn-cs"/>
                        </a:rPr>
                        <a:t>Facebook-Kampagnen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AT" sz="1400" b="1" kern="1200" baseline="0" dirty="0" smtClean="0">
                        <a:solidFill>
                          <a:srgbClr val="674BA9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b="1" kern="1200" baseline="0" dirty="0" smtClean="0">
                          <a:solidFill>
                            <a:srgbClr val="674BA9"/>
                          </a:solidFill>
                          <a:latin typeface="+mn-lt"/>
                          <a:ea typeface="+mn-ea"/>
                          <a:cs typeface="+mn-cs"/>
                        </a:rPr>
                        <a:t>Gewinnspiele</a:t>
                      </a:r>
                      <a:r>
                        <a:rPr lang="de-AT" sz="1400" kern="1200" baseline="0" dirty="0" smtClean="0">
                          <a:solidFill>
                            <a:srgbClr val="674BA9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endParaRPr lang="de-AT" sz="1400" dirty="0">
                        <a:solidFill>
                          <a:srgbClr val="674BA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400" b="1" kern="1200" baseline="0" dirty="0" smtClean="0">
                          <a:solidFill>
                            <a:srgbClr val="674BA9"/>
                          </a:solidFill>
                          <a:latin typeface="+mn-lt"/>
                          <a:ea typeface="+mn-ea"/>
                          <a:cs typeface="+mn-cs"/>
                        </a:rPr>
                        <a:t>Facebook-Kampagnen</a:t>
                      </a:r>
                      <a:r>
                        <a:rPr lang="de-AT" sz="1400" kern="1200" baseline="0" dirty="0" smtClean="0">
                          <a:solidFill>
                            <a:srgbClr val="674BA9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AT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werden in der Zukunft  verwendet (Dafür ist die Anzahl an Fans noch zu gering)</a:t>
                      </a:r>
                    </a:p>
                    <a:p>
                      <a:endParaRPr lang="de-AT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400" dirty="0" smtClean="0">
                          <a:solidFill>
                            <a:schemeClr val="tx1"/>
                          </a:solidFill>
                        </a:rPr>
                        <a:t>Glaubwürdigkeit: Testimonials auf </a:t>
                      </a:r>
                      <a:r>
                        <a:rPr lang="de-AT" sz="1400" b="1" dirty="0" smtClean="0">
                          <a:solidFill>
                            <a:srgbClr val="674BA9"/>
                          </a:solidFill>
                        </a:rPr>
                        <a:t>Facebook</a:t>
                      </a:r>
                      <a:r>
                        <a:rPr lang="de-AT" sz="1400" dirty="0" smtClean="0">
                          <a:solidFill>
                            <a:schemeClr val="tx1"/>
                          </a:solidFill>
                        </a:rPr>
                        <a:t> nach Dienstleistung</a:t>
                      </a:r>
                      <a:endParaRPr lang="de-AT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de-AT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AT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Auch </a:t>
                      </a:r>
                      <a:r>
                        <a:rPr lang="de-AT" sz="1400" b="1" kern="1200" baseline="0" dirty="0" smtClean="0">
                          <a:solidFill>
                            <a:srgbClr val="674BA9"/>
                          </a:solidFill>
                          <a:latin typeface="+mn-lt"/>
                          <a:ea typeface="+mn-ea"/>
                          <a:cs typeface="+mn-cs"/>
                        </a:rPr>
                        <a:t>Gewinnspiele</a:t>
                      </a:r>
                      <a:r>
                        <a:rPr lang="de-AT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(e.g. Rabatt für eine komplette Legungen) werden in der Zukunft eingesetzt</a:t>
                      </a:r>
                    </a:p>
                    <a:p>
                      <a:endParaRPr lang="de-AT" sz="14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400" dirty="0" smtClean="0"/>
                        <a:t>Reputation</a:t>
                      </a:r>
                      <a:r>
                        <a:rPr lang="de-AT" sz="1400" baseline="0" dirty="0" smtClean="0"/>
                        <a:t> Marketing</a:t>
                      </a:r>
                      <a:endParaRPr lang="de-A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400" b="1" dirty="0" smtClean="0">
                          <a:solidFill>
                            <a:srgbClr val="674BA9"/>
                          </a:solidFill>
                        </a:rPr>
                        <a:t>Backlinks</a:t>
                      </a:r>
                    </a:p>
                    <a:p>
                      <a:endParaRPr lang="de-AT" sz="1400" b="1" dirty="0" smtClean="0">
                        <a:solidFill>
                          <a:srgbClr val="674BA9"/>
                        </a:solidFill>
                      </a:endParaRPr>
                    </a:p>
                    <a:p>
                      <a:r>
                        <a:rPr lang="de-AT" sz="1400" b="1" dirty="0" smtClean="0">
                          <a:solidFill>
                            <a:srgbClr val="674BA9"/>
                          </a:solidFill>
                        </a:rPr>
                        <a:t>Kooperationen</a:t>
                      </a:r>
                      <a:endParaRPr lang="de-AT" sz="1400" b="1" dirty="0">
                        <a:solidFill>
                          <a:srgbClr val="674BA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400" dirty="0" smtClean="0">
                          <a:solidFill>
                            <a:schemeClr val="tx1"/>
                          </a:solidFill>
                        </a:rPr>
                        <a:t>Es wird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 noch Kontakt mit anderen </a:t>
                      </a:r>
                      <a:r>
                        <a:rPr lang="de-AT" sz="1400" dirty="0" smtClean="0">
                          <a:solidFill>
                            <a:schemeClr val="tx1"/>
                          </a:solidFill>
                        </a:rPr>
                        <a:t>esoterischen und Selbsthilfeseiten 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aufgenommen bzgl. </a:t>
                      </a: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Backlinks</a:t>
                      </a:r>
                      <a:r>
                        <a:rPr lang="de-AT" sz="1400" baseline="0" dirty="0" smtClean="0">
                          <a:solidFill>
                            <a:schemeClr val="tx1"/>
                          </a:solidFill>
                        </a:rPr>
                        <a:t> und möglichen </a:t>
                      </a:r>
                      <a:r>
                        <a:rPr lang="de-AT" sz="1400" b="1" baseline="0" dirty="0" smtClean="0">
                          <a:solidFill>
                            <a:srgbClr val="674BA9"/>
                          </a:solidFill>
                        </a:rPr>
                        <a:t>Kooperationen</a:t>
                      </a:r>
                      <a:endParaRPr lang="de-AT" sz="1400" b="1" dirty="0">
                        <a:solidFill>
                          <a:srgbClr val="674BA9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0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grpSp>
          <p:nvGrpSpPr>
            <p:cNvPr id="6" name="Group 9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0" y="0"/>
                <a:ext cx="9144000" cy="6858000"/>
                <a:chOff x="0" y="0"/>
                <a:chExt cx="9144000" cy="6858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0"/>
                  <a:ext cx="381000" cy="68580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0" y="0"/>
                  <a:ext cx="9144000" cy="381600"/>
                </a:xfrm>
                <a:prstGeom prst="rect">
                  <a:avLst/>
                </a:prstGeom>
                <a:solidFill>
                  <a:srgbClr val="B38C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AT"/>
                </a:p>
              </p:txBody>
            </p:sp>
          </p:grpSp>
          <p:sp>
            <p:nvSpPr>
              <p:cNvPr id="7" name="Title 7"/>
              <p:cNvSpPr txBox="1">
                <a:spLocks/>
              </p:cNvSpPr>
              <p:nvPr/>
            </p:nvSpPr>
            <p:spPr>
              <a:xfrm>
                <a:off x="609600" y="1"/>
                <a:ext cx="7772400" cy="381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Abigail </a:t>
                </a:r>
                <a:r>
                  <a:rPr lang="de-AT" sz="2000" dirty="0" smtClean="0">
                    <a:solidFill>
                      <a:schemeClr val="bg1"/>
                    </a:solidFill>
                    <a:latin typeface="Mystery Quest" pitchFamily="2" charset="0"/>
                    <a:ea typeface="Mystery Quest" pitchFamily="2" charset="0"/>
                    <a:cs typeface="+mj-cs"/>
                  </a:rPr>
                  <a:t>Cards - Online </a:t>
                </a:r>
                <a:r>
                  <a:rPr kumimoji="0" lang="de-AT" sz="2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ystery Quest" pitchFamily="2" charset="0"/>
                    <a:ea typeface="Mystery Quest" pitchFamily="2" charset="0"/>
                    <a:cs typeface="+mj-cs"/>
                  </a:rPr>
                  <a:t>Marketingkonzept</a:t>
                </a:r>
                <a:endParaRPr kumimoji="0" lang="de-AT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ystery Quest" pitchFamily="2" charset="0"/>
                  <a:ea typeface="Mystery Quest" pitchFamily="2" charset="0"/>
                  <a:cs typeface="+mj-cs"/>
                </a:endParaRPr>
              </a:p>
            </p:txBody>
          </p:sp>
        </p:grpSp>
        <p:sp>
          <p:nvSpPr>
            <p:cNvPr id="8" name="Title 7"/>
            <p:cNvSpPr txBox="1">
              <a:spLocks/>
            </p:cNvSpPr>
            <p:nvPr/>
          </p:nvSpPr>
          <p:spPr>
            <a:xfrm>
              <a:off x="0" y="6477000"/>
              <a:ext cx="381000" cy="3810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85000"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2000" dirty="0" smtClean="0">
                  <a:solidFill>
                    <a:schemeClr val="bg1"/>
                  </a:solidFill>
                  <a:latin typeface="Mystery Quest" pitchFamily="2" charset="0"/>
                  <a:ea typeface="Mystery Quest" pitchFamily="2" charset="0"/>
                  <a:cs typeface="+mj-cs"/>
                </a:rPr>
                <a:t>10</a:t>
              </a:r>
              <a:endParaRPr kumimoji="0" lang="de-AT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ystery Quest" pitchFamily="2" charset="0"/>
                <a:ea typeface="Mystery Quest" pitchFamily="2" charset="0"/>
                <a:cs typeface="+mj-cs"/>
              </a:endParaRPr>
            </a:p>
          </p:txBody>
        </p:sp>
      </p:grp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838199" cy="8381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29006"/>
            <a:ext cx="6174777" cy="63908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Office PowerPoint</Application>
  <PresentationFormat>On-screen Show (4:3)</PresentationFormat>
  <Paragraphs>158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ＭＳ 明朝</vt:lpstr>
      <vt:lpstr>ＭＳ Ｐゴシック</vt:lpstr>
      <vt:lpstr>Arial</vt:lpstr>
      <vt:lpstr>Calibri</vt:lpstr>
      <vt:lpstr>Mystery Quest</vt:lpstr>
      <vt:lpstr>Symbol</vt:lpstr>
      <vt:lpstr>Wingdings</vt:lpstr>
      <vt:lpstr>Office Theme</vt:lpstr>
      <vt:lpstr>Abigail Cards Online Beratung mit Zigeunerkaten  in Brasilien, Österreich... abigailcards.com</vt:lpstr>
      <vt:lpstr>Index</vt:lpstr>
      <vt:lpstr>SWOT Analsyse</vt:lpstr>
      <vt:lpstr>Ausgangssituation  - Website &amp; Blog</vt:lpstr>
      <vt:lpstr>Ausgangssituation  - LP (Kontaktformular)</vt:lpstr>
      <vt:lpstr>Ausgangssituation – Social Medias</vt:lpstr>
      <vt:lpstr>Ziele &amp; Zielgruppe</vt:lpstr>
      <vt:lpstr>Promotion: Marketing Maßnahmen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Abigail Cards</dc:title>
  <dc:creator>Daniel Burnier de Castro</dc:creator>
  <cp:lastModifiedBy>Daniel Burnier de Castro</cp:lastModifiedBy>
  <cp:revision>189</cp:revision>
  <dcterms:created xsi:type="dcterms:W3CDTF">2006-08-16T00:00:00Z</dcterms:created>
  <dcterms:modified xsi:type="dcterms:W3CDTF">2017-12-07T20:12:41Z</dcterms:modified>
</cp:coreProperties>
</file>