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72" r:id="rId3"/>
    <p:sldId id="268" r:id="rId4"/>
    <p:sldId id="273" r:id="rId5"/>
    <p:sldId id="271" r:id="rId6"/>
    <p:sldId id="270" r:id="rId7"/>
    <p:sldId id="260" r:id="rId8"/>
    <p:sldId id="263" r:id="rId9"/>
    <p:sldId id="264" r:id="rId10"/>
    <p:sldId id="269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932" y="-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cardsabigail@gmail.com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cardsabigail@gmail.com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similarweb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 dirty="0" smtClean="0"/>
              <a:t>Gypsy Cards</a:t>
            </a:r>
            <a:endParaRPr lang="de-AT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AT" sz="2000" i="1" dirty="0" smtClean="0"/>
              <a:t>Website (100%)</a:t>
            </a:r>
          </a:p>
          <a:p>
            <a:r>
              <a:rPr lang="de-AT" sz="2000" i="1" dirty="0" smtClean="0"/>
              <a:t>Facebook</a:t>
            </a:r>
            <a:endParaRPr lang="de-AT" sz="1600" i="1" dirty="0" smtClean="0"/>
          </a:p>
          <a:p>
            <a:r>
              <a:rPr lang="de-AT" sz="2000" i="1" dirty="0" smtClean="0"/>
              <a:t>Fiverr</a:t>
            </a:r>
          </a:p>
          <a:p>
            <a:r>
              <a:rPr lang="de-AT" sz="2000" i="1" dirty="0" smtClean="0"/>
              <a:t>Landing Page	</a:t>
            </a:r>
          </a:p>
          <a:p>
            <a:r>
              <a:rPr lang="de-AT" sz="2000" i="1" dirty="0" smtClean="0"/>
              <a:t>E-Mail: </a:t>
            </a:r>
            <a:r>
              <a:rPr lang="de-AT" sz="2000" i="1" dirty="0" smtClean="0">
                <a:hlinkClick r:id="rId2"/>
              </a:rPr>
              <a:t>cardsabigail@gmail.com</a:t>
            </a:r>
            <a:endParaRPr lang="de-AT" sz="2000" i="1" dirty="0" smtClean="0"/>
          </a:p>
          <a:p>
            <a:r>
              <a:rPr lang="de-AT" sz="2000" i="1" dirty="0" smtClean="0"/>
              <a:t>eBook: ???</a:t>
            </a:r>
          </a:p>
          <a:p>
            <a:endParaRPr lang="de-AT" sz="2000" dirty="0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de-AT" b="1" dirty="0" smtClean="0"/>
              <a:t>TO Dos – Website (General)</a:t>
            </a:r>
            <a:endParaRPr lang="de-AT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32561" y="838200"/>
          <a:ext cx="7144639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84265"/>
                <a:gridCol w="469519"/>
                <a:gridCol w="49085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TO DO</a:t>
                      </a:r>
                      <a:endParaRPr lang="de-A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PT</a:t>
                      </a:r>
                      <a:endParaRPr lang="de-A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DE</a:t>
                      </a:r>
                      <a:endParaRPr lang="de-AT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600" dirty="0" smtClean="0"/>
                        <a:t>Check all figure resolutions</a:t>
                      </a:r>
                      <a:endParaRPr lang="de-AT" sz="1600" dirty="0" smtClean="0">
                        <a:sym typeface="Wingdings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A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AT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600" dirty="0" smtClean="0">
                          <a:sym typeface="Wingdings" pitchFamily="2" charset="2"/>
                        </a:rPr>
                        <a:t>Delete „index_image.png“ and „index_image70.png“ from Other 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A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AT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600" dirty="0" smtClean="0">
                          <a:sym typeface="Wingdings" pitchFamily="2" charset="2"/>
                        </a:rPr>
                        <a:t>Make „About me“ – Foto vom Medi &amp; FB/Instagram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AT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AT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600" dirty="0" smtClean="0">
                          <a:solidFill>
                            <a:schemeClr val="tx1"/>
                          </a:solidFill>
                          <a:sym typeface="Wingdings" pitchFamily="2" charset="2"/>
                        </a:rPr>
                        <a:t>Create a LOG of Website Changes (v1, v2...)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X</a:t>
                      </a:r>
                      <a:endParaRPr lang="de-A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X</a:t>
                      </a:r>
                      <a:endParaRPr lang="de-AT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600" dirty="0" smtClean="0">
                          <a:sym typeface="Wingdings" pitchFamily="2" charset="2"/>
                        </a:rPr>
                        <a:t>Reinstall DREAMWEAVER 2015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de-AT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AT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600" dirty="0" smtClean="0">
                          <a:sym typeface="Wingdings" pitchFamily="2" charset="2"/>
                        </a:rPr>
                        <a:t>Add </a:t>
                      </a:r>
                      <a:r>
                        <a:rPr lang="de-AT" sz="1600" dirty="0" smtClean="0"/>
                        <a:t>Impressum / Datenschutzerklärung to the Footer [WKO]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A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AT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 smtClean="0"/>
                        <a:t>Add PT/DE on the Footer</a:t>
                      </a:r>
                      <a:endParaRPr lang="de-AT" sz="1600" dirty="0" smtClean="0">
                        <a:sym typeface="Wingdings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A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AT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600" dirty="0" smtClean="0">
                          <a:sym typeface="Wingdings" pitchFamily="2" charset="2"/>
                        </a:rPr>
                        <a:t>Add YOUTUBE Link to Footer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A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AT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dirty="0" smtClean="0"/>
                        <a:t>Add References to „Geschichte.php“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600" dirty="0" smtClean="0"/>
                        <a:t>X</a:t>
                      </a:r>
                      <a:endParaRPr lang="de-A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600" dirty="0" smtClean="0"/>
                        <a:t>X</a:t>
                      </a:r>
                      <a:endParaRPr lang="de-AT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600" dirty="0" smtClean="0">
                          <a:sym typeface="Wingdings" pitchFamily="2" charset="2"/>
                        </a:rPr>
                        <a:t>Padding between cards in following pages do not appear correctly in </a:t>
                      </a:r>
                      <a:endParaRPr lang="de-AT" sz="1600" dirty="0" smtClean="0"/>
                    </a:p>
                    <a:p>
                      <a:r>
                        <a:rPr lang="de-AT" sz="1600" dirty="0" smtClean="0">
                          <a:sym typeface="Wingdings" pitchFamily="2" charset="2"/>
                        </a:rPr>
                        <a:t>IE:</a:t>
                      </a:r>
                    </a:p>
                    <a:p>
                      <a:pPr lvl="1"/>
                      <a:r>
                        <a:rPr lang="de-AT" sz="1200" dirty="0" smtClean="0">
                          <a:sym typeface="Wingdings" pitchFamily="2" charset="2"/>
                        </a:rPr>
                        <a:t>significado-das-cartas.php</a:t>
                      </a:r>
                    </a:p>
                    <a:p>
                      <a:pPr lvl="1"/>
                      <a:r>
                        <a:rPr lang="de-AT" sz="1200" dirty="0" smtClean="0">
                          <a:sym typeface="Wingdings" pitchFamily="2" charset="2"/>
                        </a:rPr>
                        <a:t>exemplo-1-carta.php</a:t>
                      </a:r>
                    </a:p>
                    <a:p>
                      <a:pPr lvl="1"/>
                      <a:r>
                        <a:rPr lang="de-AT" sz="1200" dirty="0" smtClean="0">
                          <a:sym typeface="Wingdings" pitchFamily="2" charset="2"/>
                        </a:rPr>
                        <a:t>exemplo-3-cartas.php</a:t>
                      </a:r>
                    </a:p>
                    <a:p>
                      <a:pPr lvl="1"/>
                      <a:r>
                        <a:rPr lang="de-AT" sz="1200" dirty="0" smtClean="0">
                          <a:sym typeface="Wingdings" pitchFamily="2" charset="2"/>
                        </a:rPr>
                        <a:t>carta-do-dia.php</a:t>
                      </a:r>
                      <a:endParaRPr lang="de-AT" sz="1600" dirty="0" smtClean="0">
                        <a:sym typeface="Wingdings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A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AT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de-AT" sz="1600" dirty="0" smtClean="0">
                          <a:sym typeface="Wingdings" pitchFamily="2" charset="2"/>
                        </a:rPr>
                        <a:t>Make a Website</a:t>
                      </a:r>
                      <a:r>
                        <a:rPr lang="de-AT" sz="1600" baseline="0" dirty="0" smtClean="0">
                          <a:sym typeface="Wingdings" pitchFamily="2" charset="2"/>
                        </a:rPr>
                        <a:t> Test in all most common browsers and mobiles (&lt;90%)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A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AT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ym typeface="Wingdings" pitchFamily="2" charset="2"/>
                        </a:rPr>
                        <a:t>Use </a:t>
                      </a:r>
                      <a:r>
                        <a:rPr lang="de-AT" sz="1600" dirty="0" smtClean="0">
                          <a:sym typeface="Wingdings" pitchFamily="2" charset="2"/>
                        </a:rPr>
                        <a:t>&lt;noscript&gt;  in tags where no JavaScript is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A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AT" sz="16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de-AT" b="1" dirty="0" smtClean="0"/>
              <a:t>TO Dos – Website (SEO)</a:t>
            </a:r>
            <a:endParaRPr lang="de-AT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14400"/>
            <a:ext cx="8610600" cy="5638800"/>
          </a:xfrm>
        </p:spPr>
        <p:txBody>
          <a:bodyPr>
            <a:normAutofit/>
          </a:bodyPr>
          <a:lstStyle/>
          <a:p>
            <a:endParaRPr lang="de-AT" sz="2000" dirty="0" smtClean="0">
              <a:sym typeface="Wingdings" pitchFamily="2" charset="2"/>
            </a:endParaRPr>
          </a:p>
          <a:p>
            <a:endParaRPr lang="de-AT" sz="1900" dirty="0" smtClean="0">
              <a:sym typeface="Wingdings" pitchFamily="2" charset="2"/>
            </a:endParaRPr>
          </a:p>
          <a:p>
            <a:endParaRPr lang="de-AT" sz="1800" dirty="0" smtClean="0">
              <a:sym typeface="Wingdings" pitchFamily="2" charset="2"/>
            </a:endParaRPr>
          </a:p>
          <a:p>
            <a:endParaRPr lang="en-US" sz="1800" dirty="0" smtClean="0">
              <a:sym typeface="Wingdings" pitchFamily="2" charset="2"/>
            </a:endParaRPr>
          </a:p>
          <a:p>
            <a:endParaRPr lang="de-AT" sz="1800" dirty="0" smtClean="0">
              <a:sym typeface="Wingdings" pitchFamily="2" charset="2"/>
            </a:endParaRPr>
          </a:p>
          <a:p>
            <a:endParaRPr lang="de-AT" sz="1800" dirty="0" smtClean="0">
              <a:solidFill>
                <a:srgbClr val="0070C0"/>
              </a:solidFill>
              <a:sym typeface="Wingdings" pitchFamily="2" charset="2"/>
            </a:endParaRPr>
          </a:p>
          <a:p>
            <a:endParaRPr lang="de-DE" sz="1800" b="1" u="sng" dirty="0" smtClean="0">
              <a:solidFill>
                <a:srgbClr val="0070C0"/>
              </a:solidFill>
            </a:endParaRPr>
          </a:p>
          <a:p>
            <a:endParaRPr lang="de-DE" sz="1800" dirty="0" smtClean="0">
              <a:solidFill>
                <a:srgbClr val="0070C0"/>
              </a:solidFill>
            </a:endParaRPr>
          </a:p>
          <a:p>
            <a:pPr lvl="1"/>
            <a:endParaRPr lang="de-AT" sz="1400" dirty="0" smtClean="0">
              <a:solidFill>
                <a:srgbClr val="0070C0"/>
              </a:solidFill>
              <a:sym typeface="Wingdings" pitchFamily="2" charset="2"/>
            </a:endParaRPr>
          </a:p>
          <a:p>
            <a:endParaRPr lang="de-AT" sz="2000" dirty="0" smtClean="0">
              <a:solidFill>
                <a:srgbClr val="0070C0"/>
              </a:solidFill>
              <a:sym typeface="Wingdings" pitchFamily="2" charset="2"/>
            </a:endParaRPr>
          </a:p>
          <a:p>
            <a:endParaRPr lang="de-AT" sz="1900" dirty="0" smtClean="0">
              <a:sym typeface="Wingdings" pitchFamily="2" charset="2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4800" y="609600"/>
          <a:ext cx="8622475" cy="541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62101"/>
                <a:gridCol w="469519"/>
                <a:gridCol w="490855"/>
              </a:tblGrid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TO DO</a:t>
                      </a:r>
                      <a:endParaRPr lang="de-A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PT</a:t>
                      </a:r>
                      <a:endParaRPr lang="de-A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DE</a:t>
                      </a:r>
                      <a:endParaRPr lang="de-AT" sz="1400" dirty="0"/>
                    </a:p>
                  </a:txBody>
                  <a:tcPr/>
                </a:tc>
              </a:tr>
              <a:tr h="3175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400" dirty="0" smtClean="0">
                          <a:sym typeface="Wingdings" pitchFamily="2" charset="2"/>
                        </a:rPr>
                        <a:t>Add Meta Tag (Description)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X</a:t>
                      </a:r>
                      <a:endParaRPr lang="de-A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 smtClean="0"/>
                        <a:t>X</a:t>
                      </a:r>
                      <a:endParaRPr lang="de-AT" sz="1400" dirty="0"/>
                    </a:p>
                  </a:txBody>
                  <a:tcPr/>
                </a:tc>
              </a:tr>
              <a:tr h="3175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400" dirty="0" smtClean="0">
                          <a:sym typeface="Wingdings" pitchFamily="2" charset="2"/>
                        </a:rPr>
                        <a:t>Add Different Titles to different 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X</a:t>
                      </a:r>
                      <a:endParaRPr lang="de-A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 smtClean="0"/>
                        <a:t>X</a:t>
                      </a:r>
                      <a:endParaRPr lang="de-AT" sz="1400" dirty="0"/>
                    </a:p>
                  </a:txBody>
                  <a:tcPr/>
                </a:tc>
              </a:tr>
              <a:tr h="3175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400" dirty="0" smtClean="0">
                          <a:sym typeface="Wingdings" pitchFamily="2" charset="2"/>
                        </a:rPr>
                        <a:t>Add </a:t>
                      </a:r>
                      <a:r>
                        <a:rPr lang="de-DE" sz="1400" dirty="0" smtClean="0"/>
                        <a:t>hreflang to de and pt sites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X</a:t>
                      </a:r>
                      <a:endParaRPr lang="de-A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 smtClean="0"/>
                        <a:t>X</a:t>
                      </a:r>
                      <a:endParaRPr lang="de-AT" sz="1400" dirty="0"/>
                    </a:p>
                  </a:txBody>
                  <a:tcPr/>
                </a:tc>
              </a:tr>
              <a:tr h="3175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 smtClean="0"/>
                        <a:t>Change </a:t>
                      </a:r>
                      <a:r>
                        <a:rPr lang="de-AT" sz="1400" dirty="0" smtClean="0"/>
                        <a:t> </a:t>
                      </a:r>
                      <a:r>
                        <a:rPr lang="de-AT" sz="1400" b="1" u="sng" dirty="0" smtClean="0"/>
                        <a:t>&gt;&gt;&gt;AQUI&lt;&lt;&lt;/&gt;&gt;&gt;HIER&lt;&lt;&lt;</a:t>
                      </a:r>
                      <a:r>
                        <a:rPr lang="de-AT" sz="1400" dirty="0" smtClean="0"/>
                        <a:t>  to </a:t>
                      </a:r>
                      <a:r>
                        <a:rPr lang="de-AT" sz="1400" b="1" u="sng" dirty="0" smtClean="0"/>
                        <a:t>TIRAGEM PERSONALIZADA / PERSONALISIERTE LEGUNG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 smtClean="0"/>
                        <a:t>X</a:t>
                      </a:r>
                      <a:endParaRPr lang="de-A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 smtClean="0"/>
                        <a:t>X</a:t>
                      </a:r>
                      <a:endParaRPr lang="de-AT" sz="1400" dirty="0"/>
                    </a:p>
                  </a:txBody>
                  <a:tcPr/>
                </a:tc>
              </a:tr>
              <a:tr h="3175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400" dirty="0" smtClean="0">
                          <a:sym typeface="Wingdings" pitchFamily="2" charset="2"/>
                        </a:rPr>
                        <a:t>Use H1, H2, H3 in the text ( AVOID </a:t>
                      </a:r>
                      <a:r>
                        <a:rPr lang="en-US" sz="1400" dirty="0" smtClean="0">
                          <a:sym typeface="Wingdings" pitchFamily="2" charset="2"/>
                        </a:rPr>
                        <a:t>using heading tags only for styling text and not presenting structure)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 smtClean="0"/>
                        <a:t>X</a:t>
                      </a:r>
                      <a:endParaRPr lang="de-A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smtClean="0"/>
                        <a:t>X</a:t>
                      </a:r>
                      <a:endParaRPr lang="de-AT" sz="1400" dirty="0"/>
                    </a:p>
                  </a:txBody>
                  <a:tcPr/>
                </a:tc>
              </a:tr>
              <a:tr h="3175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400" dirty="0" smtClean="0">
                          <a:sym typeface="Wingdings" pitchFamily="2" charset="2"/>
                        </a:rPr>
                        <a:t>personalisiert.php  personalisierte-legung.php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X</a:t>
                      </a:r>
                      <a:endParaRPr lang="de-A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 smtClean="0"/>
                        <a:t>X</a:t>
                      </a:r>
                      <a:endParaRPr lang="de-AT" sz="1400" dirty="0"/>
                    </a:p>
                  </a:txBody>
                  <a:tcPr/>
                </a:tc>
              </a:tr>
              <a:tr h="3175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ym typeface="Wingdings" pitchFamily="2" charset="2"/>
                        </a:rPr>
                        <a:t>use absolute paths rather than relative paths  in “index.php” root (DE/PT)</a:t>
                      </a:r>
                      <a:endParaRPr lang="de-AT" sz="1400" dirty="0" smtClean="0">
                        <a:sym typeface="Wingdings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X</a:t>
                      </a:r>
                      <a:endParaRPr lang="de-A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 smtClean="0"/>
                        <a:t>X</a:t>
                      </a:r>
                      <a:endParaRPr lang="de-AT" sz="1400" dirty="0"/>
                    </a:p>
                  </a:txBody>
                  <a:tcPr/>
                </a:tc>
              </a:tr>
              <a:tr h="3175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ym typeface="Wingdings" pitchFamily="2" charset="2"/>
                        </a:rPr>
                        <a:t>Correct sitemaps (DE/PT)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 smtClean="0"/>
                        <a:t>X</a:t>
                      </a:r>
                      <a:endParaRPr lang="de-A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 smtClean="0"/>
                        <a:t>X</a:t>
                      </a:r>
                      <a:endParaRPr lang="de-AT" sz="1400" dirty="0"/>
                    </a:p>
                  </a:txBody>
                  <a:tcPr/>
                </a:tc>
              </a:tr>
              <a:tr h="3175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400" dirty="0" smtClean="0">
                          <a:sym typeface="Wingdings" pitchFamily="2" charset="2"/>
                        </a:rPr>
                        <a:t>Update robots.txt to contain ALL files that should not be viwed  by the users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AT" sz="1400" dirty="0" smtClean="0"/>
                        <a:t>X</a:t>
                      </a:r>
                      <a:endParaRPr lang="de-AT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de-AT" sz="1400" dirty="0"/>
                    </a:p>
                  </a:txBody>
                  <a:tcPr/>
                </a:tc>
              </a:tr>
              <a:tr h="3175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400" dirty="0" smtClean="0">
                          <a:sym typeface="Wingdings" pitchFamily="2" charset="2"/>
                        </a:rPr>
                        <a:t>Changed</a:t>
                      </a:r>
                      <a:r>
                        <a:rPr lang="de-AT" sz="1400" baseline="0" dirty="0" smtClean="0">
                          <a:sym typeface="Wingdings" pitchFamily="2" charset="2"/>
                        </a:rPr>
                        <a:t> </a:t>
                      </a:r>
                      <a:r>
                        <a:rPr lang="de-AT" sz="1400" b="1" baseline="0" dirty="0" smtClean="0">
                          <a:sym typeface="Wingdings" pitchFamily="2" charset="2"/>
                        </a:rPr>
                        <a:t>footer.css</a:t>
                      </a:r>
                      <a:r>
                        <a:rPr lang="de-AT" sz="1400" baseline="0" dirty="0" smtClean="0">
                          <a:sym typeface="Wingdings" pitchFamily="2" charset="2"/>
                        </a:rPr>
                        <a:t> &amp; </a:t>
                      </a:r>
                      <a:r>
                        <a:rPr lang="de-AT" sz="1400" b="1" baseline="0" dirty="0" smtClean="0">
                          <a:sym typeface="Wingdings" pitchFamily="2" charset="2"/>
                        </a:rPr>
                        <a:t>style.css</a:t>
                      </a:r>
                      <a:endParaRPr lang="de-AT" sz="1400" b="1" dirty="0" smtClean="0">
                        <a:sym typeface="Wingdings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 smtClean="0"/>
                        <a:t>X</a:t>
                      </a:r>
                      <a:endParaRPr lang="de-A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 smtClean="0"/>
                        <a:t>X</a:t>
                      </a:r>
                      <a:endParaRPr lang="de-AT" sz="1400" dirty="0"/>
                    </a:p>
                  </a:txBody>
                  <a:tcPr/>
                </a:tc>
              </a:tr>
              <a:tr h="3175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400" dirty="0" smtClean="0">
                          <a:sym typeface="Wingdings" pitchFamily="2" charset="2"/>
                        </a:rPr>
                        <a:t>Page names (sobre_mim  sobre-mim)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X</a:t>
                      </a:r>
                      <a:endParaRPr lang="de-A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 smtClean="0"/>
                        <a:t>X</a:t>
                      </a:r>
                      <a:endParaRPr lang="de-AT" sz="1400" dirty="0"/>
                    </a:p>
                  </a:txBody>
                  <a:tcPr/>
                </a:tc>
              </a:tr>
              <a:tr h="3175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400" dirty="0" smtClean="0">
                          <a:sym typeface="Wingdings" pitchFamily="2" charset="2"/>
                        </a:rPr>
                        <a:t>Add „alt“ to all images  Zigeunerkarte: </a:t>
                      </a:r>
                      <a:r>
                        <a:rPr lang="de-AT" sz="1400" u="sng" dirty="0" smtClean="0">
                          <a:sym typeface="Wingdings" pitchFamily="2" charset="2"/>
                        </a:rPr>
                        <a:t>Tod</a:t>
                      </a:r>
                      <a:r>
                        <a:rPr lang="de-AT" sz="1400" dirty="0" smtClean="0">
                          <a:sym typeface="Wingdings" pitchFamily="2" charset="2"/>
                        </a:rPr>
                        <a:t> */ Carta Cigana: </a:t>
                      </a:r>
                      <a:r>
                        <a:rPr lang="de-AT" sz="1400" u="sng" dirty="0" smtClean="0">
                          <a:sym typeface="Wingdings" pitchFamily="2" charset="2"/>
                        </a:rPr>
                        <a:t>Morte</a:t>
                      </a:r>
                      <a:r>
                        <a:rPr lang="de-AT" sz="1400" dirty="0" smtClean="0">
                          <a:sym typeface="Wingdings" pitchFamily="2" charset="2"/>
                        </a:rPr>
                        <a:t>* (* from Database)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 smtClean="0"/>
                        <a:t>X</a:t>
                      </a:r>
                      <a:endParaRPr lang="de-A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 smtClean="0"/>
                        <a:t>X</a:t>
                      </a:r>
                      <a:endParaRPr lang="de-AT" sz="1400" dirty="0"/>
                    </a:p>
                  </a:txBody>
                  <a:tcPr/>
                </a:tc>
              </a:tr>
              <a:tr h="317500">
                <a:tc>
                  <a:txBody>
                    <a:bodyPr/>
                    <a:lstStyle/>
                    <a:p>
                      <a:r>
                        <a:rPr lang="de-AT" sz="1600" dirty="0" smtClean="0">
                          <a:sym typeface="Wingdings" pitchFamily="2" charset="2"/>
                        </a:rPr>
                        <a:t>Define Keywords and add to text (NOT in Meta Tag)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A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AT" sz="1400" dirty="0"/>
                    </a:p>
                  </a:txBody>
                  <a:tcPr/>
                </a:tc>
              </a:tr>
              <a:tr h="3175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400" dirty="0" smtClean="0">
                          <a:sym typeface="Wingdings" pitchFamily="2" charset="2"/>
                        </a:rPr>
                        <a:t>Leave comments on other blogs adding my WEBSITE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A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AT" sz="1400" dirty="0"/>
                    </a:p>
                  </a:txBody>
                  <a:tcPr/>
                </a:tc>
              </a:tr>
              <a:tr h="3175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400" b="0" dirty="0" smtClean="0">
                          <a:sym typeface="Wingdings" pitchFamily="2" charset="2"/>
                        </a:rPr>
                        <a:t>Consider using .htaccess for security reasons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A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AT" sz="1400" dirty="0"/>
                    </a:p>
                  </a:txBody>
                  <a:tcPr/>
                </a:tc>
              </a:tr>
              <a:tr h="3175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rgbClr val="FF0000"/>
                          </a:solidFill>
                          <a:sym typeface="Wingdings" pitchFamily="2" charset="2"/>
                        </a:rPr>
                        <a:t>Make a new ERROR 404 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A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AT" sz="1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de-AT" b="1" dirty="0" smtClean="0"/>
              <a:t>TO Dos – Website NEW</a:t>
            </a:r>
            <a:endParaRPr lang="de-AT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14400"/>
            <a:ext cx="8610600" cy="5638800"/>
          </a:xfrm>
        </p:spPr>
        <p:txBody>
          <a:bodyPr>
            <a:normAutofit/>
          </a:bodyPr>
          <a:lstStyle/>
          <a:p>
            <a:endParaRPr lang="de-AT" sz="2000" dirty="0" smtClean="0">
              <a:sym typeface="Wingdings" pitchFamily="2" charset="2"/>
            </a:endParaRPr>
          </a:p>
          <a:p>
            <a:endParaRPr lang="de-AT" sz="1900" dirty="0" smtClean="0">
              <a:sym typeface="Wingdings" pitchFamily="2" charset="2"/>
            </a:endParaRPr>
          </a:p>
          <a:p>
            <a:endParaRPr lang="de-AT" sz="1800" dirty="0" smtClean="0">
              <a:sym typeface="Wingdings" pitchFamily="2" charset="2"/>
            </a:endParaRPr>
          </a:p>
          <a:p>
            <a:endParaRPr lang="en-US" sz="1800" dirty="0" smtClean="0">
              <a:sym typeface="Wingdings" pitchFamily="2" charset="2"/>
            </a:endParaRPr>
          </a:p>
          <a:p>
            <a:endParaRPr lang="de-AT" sz="1800" dirty="0" smtClean="0">
              <a:sym typeface="Wingdings" pitchFamily="2" charset="2"/>
            </a:endParaRPr>
          </a:p>
          <a:p>
            <a:endParaRPr lang="de-AT" sz="1800" dirty="0" smtClean="0">
              <a:solidFill>
                <a:srgbClr val="0070C0"/>
              </a:solidFill>
              <a:sym typeface="Wingdings" pitchFamily="2" charset="2"/>
            </a:endParaRPr>
          </a:p>
          <a:p>
            <a:endParaRPr lang="de-DE" sz="1800" b="1" u="sng" dirty="0" smtClean="0">
              <a:solidFill>
                <a:srgbClr val="0070C0"/>
              </a:solidFill>
            </a:endParaRPr>
          </a:p>
          <a:p>
            <a:endParaRPr lang="de-DE" sz="1800" dirty="0" smtClean="0">
              <a:solidFill>
                <a:srgbClr val="0070C0"/>
              </a:solidFill>
            </a:endParaRPr>
          </a:p>
          <a:p>
            <a:pPr lvl="1"/>
            <a:endParaRPr lang="de-AT" sz="1400" dirty="0" smtClean="0">
              <a:solidFill>
                <a:srgbClr val="0070C0"/>
              </a:solidFill>
              <a:sym typeface="Wingdings" pitchFamily="2" charset="2"/>
            </a:endParaRPr>
          </a:p>
          <a:p>
            <a:endParaRPr lang="de-AT" sz="2000" dirty="0" smtClean="0">
              <a:solidFill>
                <a:srgbClr val="0070C0"/>
              </a:solidFill>
              <a:sym typeface="Wingdings" pitchFamily="2" charset="2"/>
            </a:endParaRPr>
          </a:p>
          <a:p>
            <a:endParaRPr lang="de-AT" sz="1900" dirty="0" smtClean="0">
              <a:sym typeface="Wingdings" pitchFamily="2" charset="2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4800" y="609600"/>
          <a:ext cx="8622475" cy="2222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62101"/>
                <a:gridCol w="469519"/>
                <a:gridCol w="490855"/>
              </a:tblGrid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TO DO</a:t>
                      </a:r>
                      <a:endParaRPr lang="de-A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PT</a:t>
                      </a:r>
                      <a:endParaRPr lang="de-A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DE</a:t>
                      </a:r>
                      <a:endParaRPr lang="de-AT" sz="1400" dirty="0"/>
                    </a:p>
                  </a:txBody>
                  <a:tcPr/>
                </a:tc>
              </a:tr>
              <a:tr h="3175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400" dirty="0" smtClean="0">
                          <a:sym typeface="Wingdings" pitchFamily="2" charset="2"/>
                        </a:rPr>
                        <a:t>Change  Sie</a:t>
                      </a:r>
                      <a:r>
                        <a:rPr lang="de-AT" sz="1400" baseline="0" dirty="0" smtClean="0">
                          <a:sym typeface="Wingdings" pitchFamily="2" charset="2"/>
                        </a:rPr>
                        <a:t>  du (</a:t>
                      </a:r>
                      <a:r>
                        <a:rPr lang="de-AT" sz="1400" dirty="0" smtClean="0">
                          <a:sym typeface="Wingdings" pitchFamily="2" charset="2"/>
                        </a:rPr>
                        <a:t>tageskarte.php)</a:t>
                      </a:r>
                      <a:endParaRPr lang="de-AT" sz="1400" dirty="0" smtClean="0">
                        <a:sym typeface="Wingdings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A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 smtClean="0"/>
                        <a:t>X</a:t>
                      </a:r>
                      <a:endParaRPr lang="de-AT" sz="1400" dirty="0"/>
                    </a:p>
                  </a:txBody>
                  <a:tcPr/>
                </a:tc>
              </a:tr>
              <a:tr h="3175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400" dirty="0" smtClean="0">
                          <a:sym typeface="Wingdings" pitchFamily="2" charset="2"/>
                        </a:rPr>
                        <a:t>Change  Sie</a:t>
                      </a:r>
                      <a:r>
                        <a:rPr lang="de-AT" sz="1400" baseline="0" dirty="0" smtClean="0">
                          <a:sym typeface="Wingdings" pitchFamily="2" charset="2"/>
                        </a:rPr>
                        <a:t>  du  (</a:t>
                      </a:r>
                      <a:r>
                        <a:rPr lang="de-AT" sz="1400" dirty="0" smtClean="0">
                          <a:sym typeface="Wingdings" pitchFamily="2" charset="2"/>
                        </a:rPr>
                        <a:t>bedeutung-der-karten.php)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A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 smtClean="0"/>
                        <a:t>X</a:t>
                      </a:r>
                      <a:endParaRPr lang="de-AT" sz="1400" dirty="0"/>
                    </a:p>
                  </a:txBody>
                  <a:tcPr/>
                </a:tc>
              </a:tr>
              <a:tr h="3175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400" dirty="0" smtClean="0">
                          <a:sym typeface="Wingdings" pitchFamily="2" charset="2"/>
                        </a:rPr>
                        <a:t>Make Video Thumbnail for Youtube</a:t>
                      </a:r>
                      <a:r>
                        <a:rPr lang="de-AT" sz="1400" baseline="0" dirty="0" smtClean="0">
                          <a:sym typeface="Wingdings" pitchFamily="2" charset="2"/>
                        </a:rPr>
                        <a:t> Channel</a:t>
                      </a:r>
                      <a:endParaRPr lang="de-AT" sz="1400" dirty="0" smtClean="0">
                        <a:sym typeface="Wingdings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 smtClean="0"/>
                        <a:t>X</a:t>
                      </a:r>
                      <a:endParaRPr lang="de-A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smtClean="0"/>
                        <a:t>X</a:t>
                      </a:r>
                      <a:endParaRPr lang="de-AT" sz="1400" dirty="0"/>
                    </a:p>
                  </a:txBody>
                  <a:tcPr/>
                </a:tc>
              </a:tr>
              <a:tr h="3175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 smtClean="0"/>
                        <a:t>Upload Videos FACEBOOK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 smtClean="0"/>
                        <a:t>X</a:t>
                      </a:r>
                      <a:endParaRPr lang="de-A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 smtClean="0"/>
                        <a:t>X</a:t>
                      </a:r>
                      <a:endParaRPr lang="de-AT" sz="1400" dirty="0"/>
                    </a:p>
                  </a:txBody>
                  <a:tcPr/>
                </a:tc>
              </a:tr>
              <a:tr h="3175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AT" sz="1400" dirty="0" smtClean="0">
                        <a:sym typeface="Wingdings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A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AT" sz="1400" dirty="0"/>
                    </a:p>
                  </a:txBody>
                  <a:tcPr/>
                </a:tc>
              </a:tr>
              <a:tr h="3175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 smtClean="0">
                        <a:sym typeface="Wingdings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A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AT" sz="1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 dirty="0" smtClean="0"/>
              <a:t>Content</a:t>
            </a:r>
            <a:endParaRPr lang="de-AT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lang="de-AT" sz="2600" dirty="0" smtClean="0">
              <a:latin typeface="Mystery Quest" pitchFamily="2" charset="0"/>
              <a:ea typeface="Mystery Quest" pitchFamily="2" charset="0"/>
            </a:endParaRPr>
          </a:p>
          <a:p>
            <a:pPr algn="just">
              <a:buNone/>
            </a:pPr>
            <a:r>
              <a:rPr lang="en-US" sz="2600" b="1" dirty="0" smtClean="0">
                <a:solidFill>
                  <a:srgbClr val="0070C0"/>
                </a:solidFill>
                <a:latin typeface="Mystery Quest" pitchFamily="2" charset="0"/>
                <a:ea typeface="Mystery Quest" pitchFamily="2" charset="0"/>
              </a:rPr>
              <a:t>Consider creating a new, useful service that no other site</a:t>
            </a:r>
          </a:p>
          <a:p>
            <a:pPr algn="just">
              <a:buNone/>
            </a:pPr>
            <a:r>
              <a:rPr lang="en-US" sz="2600" b="1" dirty="0" smtClean="0">
                <a:solidFill>
                  <a:srgbClr val="0070C0"/>
                </a:solidFill>
                <a:latin typeface="Mystery Quest" pitchFamily="2" charset="0"/>
                <a:ea typeface="Mystery Quest" pitchFamily="2" charset="0"/>
              </a:rPr>
              <a:t>offers. You could also write an original piece of research,</a:t>
            </a:r>
          </a:p>
          <a:p>
            <a:pPr algn="just">
              <a:buNone/>
            </a:pPr>
            <a:r>
              <a:rPr lang="en-US" sz="2600" b="1" dirty="0" smtClean="0">
                <a:solidFill>
                  <a:srgbClr val="0070C0"/>
                </a:solidFill>
                <a:latin typeface="Mystery Quest" pitchFamily="2" charset="0"/>
                <a:ea typeface="Mystery Quest" pitchFamily="2" charset="0"/>
              </a:rPr>
              <a:t>break an exciting news story, or leverage your unique </a:t>
            </a:r>
          </a:p>
          <a:p>
            <a:pPr algn="just">
              <a:buNone/>
            </a:pPr>
            <a:r>
              <a:rPr lang="en-US" sz="2600" b="1" dirty="0" smtClean="0">
                <a:solidFill>
                  <a:srgbClr val="0070C0"/>
                </a:solidFill>
                <a:latin typeface="Mystery Quest" pitchFamily="2" charset="0"/>
                <a:ea typeface="Mystery Quest" pitchFamily="2" charset="0"/>
              </a:rPr>
              <a:t>user base. Other sites may lack the resources or </a:t>
            </a:r>
          </a:p>
          <a:p>
            <a:pPr algn="just">
              <a:buNone/>
            </a:pPr>
            <a:r>
              <a:rPr lang="en-US" sz="2600" b="1" dirty="0" smtClean="0">
                <a:solidFill>
                  <a:srgbClr val="0070C0"/>
                </a:solidFill>
                <a:latin typeface="Mystery Quest" pitchFamily="2" charset="0"/>
                <a:ea typeface="Mystery Quest" pitchFamily="2" charset="0"/>
              </a:rPr>
              <a:t>expertise to do these things. </a:t>
            </a:r>
            <a:endParaRPr lang="de-AT" sz="2600" b="1" dirty="0" smtClean="0">
              <a:solidFill>
                <a:srgbClr val="0070C0"/>
              </a:solidFill>
              <a:latin typeface="Mystery Quest" pitchFamily="2" charset="0"/>
              <a:ea typeface="Mystery Quest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 dirty="0" smtClean="0"/>
              <a:t>TO Dos – Next Steps</a:t>
            </a:r>
            <a:endParaRPr lang="de-AT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r>
              <a:rPr lang="de-AT" sz="1800" dirty="0" smtClean="0"/>
              <a:t>Landing Page* (Tiragem Personalizada)</a:t>
            </a:r>
          </a:p>
          <a:p>
            <a:pPr marL="800100" lvl="1" indent="-342900">
              <a:buFont typeface="+mj-lt"/>
              <a:buAutoNum type="arabicPeriod"/>
            </a:pPr>
            <a:r>
              <a:rPr lang="de-AT" sz="1400" b="1" dirty="0" smtClean="0">
                <a:solidFill>
                  <a:srgbClr val="0070C0"/>
                </a:solidFill>
              </a:rPr>
              <a:t>Free spread (3 cards) X Email</a:t>
            </a:r>
            <a:endParaRPr lang="de-AT" sz="1400" dirty="0" smtClean="0">
              <a:solidFill>
                <a:srgbClr val="0070C0"/>
              </a:solidFill>
              <a:sym typeface="Wingdings" pitchFamily="2" charset="2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de-AT" sz="1400" dirty="0" smtClean="0">
                <a:solidFill>
                  <a:srgbClr val="0070C0"/>
                </a:solidFill>
                <a:sym typeface="Wingdings" pitchFamily="2" charset="2"/>
              </a:rPr>
              <a:t>Enter your Email and get 30% discount on your first spread!</a:t>
            </a:r>
            <a:endParaRPr lang="de-AT" sz="1400" dirty="0" smtClean="0">
              <a:solidFill>
                <a:srgbClr val="0070C0"/>
              </a:solidFill>
            </a:endParaRPr>
          </a:p>
          <a:p>
            <a:r>
              <a:rPr lang="de-AT" sz="1800" dirty="0" smtClean="0">
                <a:sym typeface="Wingdings" pitchFamily="2" charset="2"/>
              </a:rPr>
              <a:t>Continue Website Translation (EN)</a:t>
            </a:r>
          </a:p>
          <a:p>
            <a:r>
              <a:rPr lang="de-AT" sz="1800" dirty="0" smtClean="0">
                <a:solidFill>
                  <a:srgbClr val="00B050"/>
                </a:solidFill>
                <a:sym typeface="Wingdings" pitchFamily="2" charset="2"/>
              </a:rPr>
              <a:t>SEO – how to optimize for google</a:t>
            </a:r>
          </a:p>
          <a:p>
            <a:r>
              <a:rPr lang="de-AT" sz="1800" dirty="0" smtClean="0">
                <a:solidFill>
                  <a:srgbClr val="00B050"/>
                </a:solidFill>
                <a:sym typeface="Wingdings" pitchFamily="2" charset="2"/>
              </a:rPr>
              <a:t>Google Analytics</a:t>
            </a:r>
          </a:p>
          <a:p>
            <a:endParaRPr lang="de-AT" sz="1800" b="1" dirty="0" smtClean="0">
              <a:sym typeface="Wingdings" pitchFamily="2" charset="2"/>
            </a:endParaRPr>
          </a:p>
          <a:p>
            <a:endParaRPr lang="de-AT" sz="1800" b="1" dirty="0" smtClean="0">
              <a:sym typeface="Wingdings" pitchFamily="2" charset="2"/>
            </a:endParaRPr>
          </a:p>
          <a:p>
            <a:endParaRPr lang="de-AT" sz="1800" b="1" dirty="0" smtClean="0">
              <a:sym typeface="Wingdings" pitchFamily="2" charset="2"/>
            </a:endParaRPr>
          </a:p>
          <a:p>
            <a:endParaRPr lang="de-AT" sz="1800" b="1" dirty="0" smtClean="0">
              <a:sym typeface="Wingdings" pitchFamily="2" charset="2"/>
            </a:endParaRPr>
          </a:p>
          <a:p>
            <a:endParaRPr lang="de-AT" sz="1800" b="1" dirty="0" smtClean="0">
              <a:sym typeface="Wingdings" pitchFamily="2" charset="2"/>
            </a:endParaRPr>
          </a:p>
          <a:p>
            <a:r>
              <a:rPr lang="de-AT" sz="1800" b="1" dirty="0" smtClean="0">
                <a:sym typeface="Wingdings" pitchFamily="2" charset="2"/>
              </a:rPr>
              <a:t>* https://colorlib.com/wp/free-bootstrap-landing-pages-templates/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AT" b="1" dirty="0" smtClean="0"/>
              <a:t>Analyze Competition and Market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 smtClean="0"/>
              <a:t>Facebook Ads Audience (</a:t>
            </a:r>
            <a:r>
              <a:rPr lang="de-AT" dirty="0" smtClean="0">
                <a:solidFill>
                  <a:srgbClr val="FF0000"/>
                </a:solidFill>
              </a:rPr>
              <a:t>Page already created</a:t>
            </a:r>
            <a:r>
              <a:rPr lang="de-AT" dirty="0" smtClean="0"/>
              <a:t>)</a:t>
            </a:r>
          </a:p>
          <a:p>
            <a:endParaRPr lang="de-AT" dirty="0" smtClean="0"/>
          </a:p>
          <a:p>
            <a:r>
              <a:rPr lang="de-AT" dirty="0" smtClean="0"/>
              <a:t>Adwords Keyword Planner (Half of the process done – e-mail used: </a:t>
            </a:r>
            <a:r>
              <a:rPr lang="de-AT" dirty="0" smtClean="0">
                <a:hlinkClick r:id="rId2"/>
              </a:rPr>
              <a:t>cardsabigail@gmail.com</a:t>
            </a:r>
            <a:r>
              <a:rPr lang="de-AT" dirty="0" smtClean="0"/>
              <a:t>)</a:t>
            </a:r>
          </a:p>
          <a:p>
            <a:endParaRPr lang="de-AT" dirty="0" smtClean="0"/>
          </a:p>
          <a:p>
            <a:r>
              <a:rPr lang="de-AT" dirty="0" smtClean="0"/>
              <a:t>Linkedin Ads Audience (B2B)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b="1" dirty="0" smtClean="0"/>
              <a:t>Uncovering Your Competitors</a:t>
            </a:r>
            <a:endParaRPr lang="de-AT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89037"/>
            <a:ext cx="8229600" cy="411163"/>
          </a:xfrm>
        </p:spPr>
        <p:txBody>
          <a:bodyPr/>
          <a:lstStyle/>
          <a:p>
            <a:r>
              <a:rPr lang="de-AT" sz="2000" dirty="0" smtClean="0"/>
              <a:t>Results from </a:t>
            </a:r>
            <a:r>
              <a:rPr lang="de-AT" sz="2000" dirty="0" smtClean="0">
                <a:hlinkClick r:id="rId2"/>
              </a:rPr>
              <a:t>https://www.similarweb.com/</a:t>
            </a:r>
            <a:endParaRPr lang="de-AT" sz="2000" dirty="0" smtClean="0"/>
          </a:p>
          <a:p>
            <a:pPr lvl="1"/>
            <a:endParaRPr lang="de-AT" dirty="0" smtClean="0"/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1593850"/>
            <a:ext cx="5867400" cy="175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8200" y="3200400"/>
            <a:ext cx="5943600" cy="1879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5800" y="4928016"/>
            <a:ext cx="6400800" cy="1853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b="1" dirty="0" smtClean="0"/>
              <a:t>Uncovering Your Competitors</a:t>
            </a:r>
            <a:endParaRPr lang="de-AT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89037"/>
            <a:ext cx="8229600" cy="411163"/>
          </a:xfrm>
        </p:spPr>
        <p:txBody>
          <a:bodyPr/>
          <a:lstStyle/>
          <a:p>
            <a:r>
              <a:rPr lang="de-AT" sz="2000" dirty="0" smtClean="0"/>
              <a:t>FACEBOOK</a:t>
            </a:r>
          </a:p>
          <a:p>
            <a:pPr lvl="1"/>
            <a:endParaRPr lang="de-AT" dirty="0" smtClean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1524000"/>
            <a:ext cx="6359185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 dirty="0" smtClean="0"/>
              <a:t>Payment Options</a:t>
            </a:r>
            <a:endParaRPr lang="de-AT" b="1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1219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de-AT" sz="2000" b="1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Stampartz</a:t>
            </a:r>
            <a:r>
              <a:rPr kumimoji="0" lang="de-AT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(Tácito/Andrea)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de-AT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de-AT" sz="20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de-AT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de-AT" sz="2000" dirty="0" smtClean="0"/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pt-BR" sz="2000" b="1" u="sng" dirty="0" smtClean="0"/>
              <a:t>Tarot Online</a:t>
            </a:r>
            <a:r>
              <a:rPr lang="pt-BR" sz="2000" b="1" dirty="0" smtClean="0"/>
              <a:t>: </a:t>
            </a:r>
            <a:r>
              <a:rPr lang="pt-BR" sz="2000" dirty="0" smtClean="0"/>
              <a:t>Escolha a forma de pagamento: </a:t>
            </a:r>
            <a:r>
              <a:rPr lang="pt-BR" sz="2000" b="1" dirty="0" smtClean="0"/>
              <a:t>PagSeguro</a:t>
            </a:r>
            <a:r>
              <a:rPr lang="pt-BR" sz="2000" dirty="0" smtClean="0"/>
              <a:t>, </a:t>
            </a:r>
            <a:r>
              <a:rPr lang="pt-BR" sz="2000" b="1" dirty="0" smtClean="0"/>
              <a:t>Paypal</a:t>
            </a:r>
            <a:r>
              <a:rPr lang="pt-BR" sz="2000" dirty="0" smtClean="0"/>
              <a:t>, </a:t>
            </a:r>
            <a:r>
              <a:rPr lang="pt-BR" sz="2000" b="1" dirty="0" smtClean="0"/>
              <a:t>Cartão de Credito Deposito Bancário </a:t>
            </a:r>
            <a:r>
              <a:rPr lang="pt-BR" sz="2000" dirty="0" smtClean="0"/>
              <a:t>ou Transferência bancaria: Trabalhamos com os bancos: Bradesco, Brasil, Caixa Econômica Federal, Santander, Real</a:t>
            </a:r>
            <a:r>
              <a:rPr lang="pt-BR" sz="2000" i="1" dirty="0" smtClean="0"/>
              <a:t>.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endParaRPr kumimoji="0" lang="pt-BR" sz="2000" b="0" i="1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de-AT" sz="2000" b="1" u="sng" dirty="0" smtClean="0"/>
              <a:t>Abigail Cards 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de-AT" sz="2000" dirty="0" smtClean="0"/>
              <a:t>Depósito bancário BB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de-AT" sz="2000" dirty="0" smtClean="0">
                <a:solidFill>
                  <a:srgbClr val="FF0000"/>
                </a:solidFill>
              </a:rPr>
              <a:t>Pagseguro – finish login!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de-AT" sz="2000" dirty="0" smtClean="0"/>
              <a:t>Paypal ?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endParaRPr kumimoji="0" lang="de-AT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600200"/>
            <a:ext cx="996462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542</Words>
  <Application>Microsoft Office PowerPoint</Application>
  <PresentationFormat>On-screen Show (4:3)</PresentationFormat>
  <Paragraphs>149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Gypsy Cards</vt:lpstr>
      <vt:lpstr>TO Dos – Website (General)</vt:lpstr>
      <vt:lpstr>TO Dos – Website (SEO)</vt:lpstr>
      <vt:lpstr>TO Dos – Website NEW</vt:lpstr>
      <vt:lpstr>Content</vt:lpstr>
      <vt:lpstr>TO Dos – Next Steps</vt:lpstr>
      <vt:lpstr>Analyze Competition and Market Size</vt:lpstr>
      <vt:lpstr>Uncovering Your Competitors</vt:lpstr>
      <vt:lpstr>Uncovering Your Competitors</vt:lpstr>
      <vt:lpstr>Payment Options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Launch Ideas</dc:title>
  <dc:creator>Daniel Burnier de Castro</dc:creator>
  <cp:lastModifiedBy>Daniel Burnier de Castro</cp:lastModifiedBy>
  <cp:revision>309</cp:revision>
  <dcterms:created xsi:type="dcterms:W3CDTF">2006-08-16T00:00:00Z</dcterms:created>
  <dcterms:modified xsi:type="dcterms:W3CDTF">2016-12-20T21:34:05Z</dcterms:modified>
</cp:coreProperties>
</file>